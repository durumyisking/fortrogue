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ver-top-rule">
            <a:extLst>
              <a:ext uri="{FF2B5EF4-FFF2-40B4-BE49-F238E27FC236}">
                <a16:creationId xmlns:a16="http://schemas.microsoft.com/office/drawing/2014/main" id="{0FA0D15F-D479-44FD-8F23-DD19BDEA7F48}"/>
              </a:ext>
            </a:extLst>
          </p:cNvPr>
          <p:cNvSpPr>
            <a:spLocks noGrp="1"/>
          </p:cNvSpPr>
          <p:nvPr/>
        </p:nvSpPr>
        <p:spPr>
          <a:xfrm>
            <a:off x="400050" y="381000"/>
            <a:ext cx="11391900" cy="28575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2" name="cover-title">
            <a:extLst>
              <a:ext uri="{FF2B5EF4-FFF2-40B4-BE49-F238E27FC236}">
                <a16:creationId xmlns:a16="http://schemas.microsoft.com/office/drawing/2014/main" id="{08434625-0596-45D6-B344-D1820A354DF9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6572250" cy="14287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4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게임 캐릭터 설정집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3F23780B-7754-47B6-9CC3-F781154C1643}"/>
              </a:ext>
            </a:extLst>
          </p:cNvPr>
          <p:cNvSpPr>
            <a:spLocks noGrp="1"/>
          </p:cNvSpPr>
          <p:nvPr/>
        </p:nvSpPr>
        <p:spPr>
          <a:xfrm>
            <a:off x="457200" y="2533650"/>
            <a:ext cx="5334000" cy="4191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210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FortRogue 캐릭터 초안</a:t>
            </a:r>
          </a:p>
        </p:txBody>
      </p:sp>
      <p:sp>
        <p:nvSpPr>
          <p:cNvPr id="4" name="cover-character-list">
            <a:extLst>
              <a:ext uri="{FF2B5EF4-FFF2-40B4-BE49-F238E27FC236}">
                <a16:creationId xmlns:a16="http://schemas.microsoft.com/office/drawing/2014/main" id="{CBA6EBAF-F9AF-4D5C-8946-6CE9D9BFE9F0}"/>
              </a:ext>
            </a:extLst>
          </p:cNvPr>
          <p:cNvSpPr>
            <a:spLocks noGrp="1"/>
          </p:cNvSpPr>
          <p:nvPr/>
        </p:nvSpPr>
        <p:spPr>
          <a:xfrm>
            <a:off x="457200" y="3619500"/>
            <a:ext cx="5810250" cy="5524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22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Cannon / Bandit / Miner / Engineer</a:t>
            </a:r>
          </a:p>
        </p:txBody>
      </p:sp>
      <p:sp>
        <p:nvSpPr>
          <p:cNvPr id="5" name="cover-purpose">
            <a:extLst>
              <a:ext uri="{FF2B5EF4-FFF2-40B4-BE49-F238E27FC236}">
                <a16:creationId xmlns:a16="http://schemas.microsoft.com/office/drawing/2014/main" id="{76E3B0C4-5DCD-4929-BCC0-787D6C5256E4}"/>
              </a:ext>
            </a:extLst>
          </p:cNvPr>
          <p:cNvSpPr>
            <a:spLocks noGrp="1"/>
          </p:cNvSpPr>
          <p:nvPr/>
        </p:nvSpPr>
        <p:spPr>
          <a:xfrm>
            <a:off x="457200" y="4400550"/>
            <a:ext cx="6096000" cy="7239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6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캐릭터별 콘셉트, 특수 공격, 기본 스탯, 이미지 삽입 영역을 한 장씩 정리한 편집용 설정집.</a:t>
            </a:r>
          </a:p>
        </p:txBody>
      </p:sp>
      <p:sp>
        <p:nvSpPr>
          <p:cNvPr id="6" name="cover-image-slot-panel">
            <a:extLst>
              <a:ext uri="{FF2B5EF4-FFF2-40B4-BE49-F238E27FC236}">
                <a16:creationId xmlns:a16="http://schemas.microsoft.com/office/drawing/2014/main" id="{EF7C14B7-2117-4FF4-B6F9-B0801A64082D}"/>
              </a:ext>
            </a:extLst>
          </p:cNvPr>
          <p:cNvSpPr>
            <a:spLocks noGrp="1"/>
          </p:cNvSpPr>
          <p:nvPr/>
        </p:nvSpPr>
        <p:spPr>
          <a:xfrm>
            <a:off x="7372350" y="704850"/>
            <a:ext cx="4419600" cy="491490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7" name="cover-image-slot-accent">
            <a:extLst>
              <a:ext uri="{FF2B5EF4-FFF2-40B4-BE49-F238E27FC236}">
                <a16:creationId xmlns:a16="http://schemas.microsoft.com/office/drawing/2014/main" id="{B663AE2F-EEB2-4E13-BB9F-576BD84DFEEE}"/>
              </a:ext>
            </a:extLst>
          </p:cNvPr>
          <p:cNvSpPr>
            <a:spLocks noGrp="1"/>
          </p:cNvSpPr>
          <p:nvPr/>
        </p:nvSpPr>
        <p:spPr>
          <a:xfrm>
            <a:off x="7372350" y="704850"/>
            <a:ext cx="76200" cy="49149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8" name="cover-image-slot-label">
            <a:extLst>
              <a:ext uri="{FF2B5EF4-FFF2-40B4-BE49-F238E27FC236}">
                <a16:creationId xmlns:a16="http://schemas.microsoft.com/office/drawing/2014/main" id="{A200A43D-2ABC-43EE-9445-EFAB1164A773}"/>
              </a:ext>
            </a:extLst>
          </p:cNvPr>
          <p:cNvSpPr>
            <a:spLocks noGrp="1"/>
          </p:cNvSpPr>
          <p:nvPr/>
        </p:nvSpPr>
        <p:spPr>
          <a:xfrm>
            <a:off x="7639050" y="971550"/>
            <a:ext cx="38862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대표 이미지</a:t>
            </a:r>
          </a:p>
        </p:txBody>
      </p:sp>
      <p:sp>
        <p:nvSpPr>
          <p:cNvPr id="9" name="cover-image-slot-hint">
            <a:extLst>
              <a:ext uri="{FF2B5EF4-FFF2-40B4-BE49-F238E27FC236}">
                <a16:creationId xmlns:a16="http://schemas.microsoft.com/office/drawing/2014/main" id="{3CF0547B-C797-4885-8585-37C9BBFFE8FA}"/>
              </a:ext>
            </a:extLst>
          </p:cNvPr>
          <p:cNvSpPr>
            <a:spLocks noGrp="1"/>
          </p:cNvSpPr>
          <p:nvPr/>
        </p:nvSpPr>
        <p:spPr>
          <a:xfrm>
            <a:off x="7639050" y="4972050"/>
            <a:ext cx="3886200" cy="3810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캐릭터 대표 이미지 또는 콘셉트 아트를 넣는 영역</a:t>
            </a:r>
          </a:p>
        </p:txBody>
      </p:sp>
      <p:sp>
        <p:nvSpPr>
          <p:cNvPr id="10" name="footer-rule-1">
            <a:extLst>
              <a:ext uri="{FF2B5EF4-FFF2-40B4-BE49-F238E27FC236}">
                <a16:creationId xmlns:a16="http://schemas.microsoft.com/office/drawing/2014/main" id="{45CF7E94-5517-40C6-9265-19ED62826C8E}"/>
              </a:ext>
            </a:extLst>
          </p:cNvPr>
          <p:cNvSpPr>
            <a:spLocks noGrp="1"/>
          </p:cNvSpPr>
          <p:nvPr/>
        </p:nvSpPr>
        <p:spPr>
          <a:xfrm>
            <a:off x="400050" y="6172200"/>
            <a:ext cx="11391900" cy="9525"/>
          </a:xfrm>
          <a:prstGeom prst="rect">
            <a:avLst/>
          </a:prstGeom>
          <a:solidFill>
            <a:srgbClr val="B8BCC4"/>
          </a:solidFill>
        </p:spPr>
      </p:sp>
      <p:sp>
        <p:nvSpPr>
          <p:cNvPr id="11" name="footer-source-1">
            <a:extLst>
              <a:ext uri="{FF2B5EF4-FFF2-40B4-BE49-F238E27FC236}">
                <a16:creationId xmlns:a16="http://schemas.microsoft.com/office/drawing/2014/main" id="{F7A2104D-B1C2-44F7-9640-783C73BFD191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docs/CHARACTER_SETTING.md</a:t>
            </a:r>
          </a:p>
        </p:txBody>
      </p:sp>
      <p:sp>
        <p:nvSpPr>
          <p:cNvPr id="12" name="footer-page-1">
            <a:extLst>
              <a:ext uri="{FF2B5EF4-FFF2-40B4-BE49-F238E27FC236}">
                <a16:creationId xmlns:a16="http://schemas.microsoft.com/office/drawing/2014/main" id="{4D6C0275-839A-43AB-85E2-57BF0DF9E40B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15200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annon-title">
            <a:extLst>
              <a:ext uri="{FF2B5EF4-FFF2-40B4-BE49-F238E27FC236}">
                <a16:creationId xmlns:a16="http://schemas.microsoft.com/office/drawing/2014/main" id="{AA59AC21-6AC9-4AB8-8EF9-F842441775C5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905500" cy="704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37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Cannon</a:t>
            </a:r>
          </a:p>
        </p:txBody>
      </p:sp>
      <p:sp>
        <p:nvSpPr>
          <p:cNvPr id="2" name="cannon-eyebrow">
            <a:extLst>
              <a:ext uri="{FF2B5EF4-FFF2-40B4-BE49-F238E27FC236}">
                <a16:creationId xmlns:a16="http://schemas.microsoft.com/office/drawing/2014/main" id="{5A59B614-F9CA-4A00-8597-BA1A3682A884}"/>
              </a:ext>
            </a:extLst>
          </p:cNvPr>
          <p:cNvSpPr>
            <a:spLocks noGrp="1"/>
          </p:cNvSpPr>
          <p:nvPr/>
        </p:nvSpPr>
        <p:spPr>
          <a:xfrm>
            <a:off x="7372350" y="476250"/>
            <a:ext cx="44196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r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Playable Character Draft</a:t>
            </a:r>
          </a:p>
        </p:txBody>
      </p:sp>
      <p:sp>
        <p:nvSpPr>
          <p:cNvPr id="3" name="cannon-콘셉트-heading">
            <a:extLst>
              <a:ext uri="{FF2B5EF4-FFF2-40B4-BE49-F238E27FC236}">
                <a16:creationId xmlns:a16="http://schemas.microsoft.com/office/drawing/2014/main" id="{6DDA241C-5D6F-4D69-940C-320CEB53A168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60960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콘셉트</a:t>
            </a:r>
          </a:p>
        </p:txBody>
      </p:sp>
      <p:sp>
        <p:nvSpPr>
          <p:cNvPr id="4" name="cannon-콘셉트-rule">
            <a:extLst>
              <a:ext uri="{FF2B5EF4-FFF2-40B4-BE49-F238E27FC236}">
                <a16:creationId xmlns:a16="http://schemas.microsoft.com/office/drawing/2014/main" id="{B84EED27-B918-4DF9-A982-0E292E88765B}"/>
              </a:ext>
            </a:extLst>
          </p:cNvPr>
          <p:cNvSpPr>
            <a:spLocks noGrp="1"/>
          </p:cNvSpPr>
          <p:nvPr/>
        </p:nvSpPr>
        <p:spPr>
          <a:xfrm>
            <a:off x="400050" y="1790700"/>
            <a:ext cx="685800" cy="381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5" name="cannon-콘셉트-body">
            <a:extLst>
              <a:ext uri="{FF2B5EF4-FFF2-40B4-BE49-F238E27FC236}">
                <a16:creationId xmlns:a16="http://schemas.microsoft.com/office/drawing/2014/main" id="{02116CAD-808B-48C2-9D05-8DB668B89317}"/>
              </a:ext>
            </a:extLst>
          </p:cNvPr>
          <p:cNvSpPr>
            <a:spLocks noGrp="1"/>
          </p:cNvSpPr>
          <p:nvPr/>
        </p:nvSpPr>
        <p:spPr>
          <a:xfrm>
            <a:off x="400050" y="1962150"/>
            <a:ext cx="6096000" cy="8191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rPr dirty="0" err="1"/>
              <a:t>대포처럼</a:t>
            </a:r>
            <a:r>
              <a:rPr dirty="0"/>
              <a:t> </a:t>
            </a:r>
            <a:r>
              <a:rPr dirty="0" err="1"/>
              <a:t>생긴</a:t>
            </a:r>
            <a:r>
              <a:rPr dirty="0"/>
              <a:t> </a:t>
            </a:r>
            <a:r>
              <a:rPr dirty="0" err="1"/>
              <a:t>캐릭터</a:t>
            </a:r>
            <a:r>
              <a:rPr dirty="0"/>
              <a:t>.</a:t>
            </a:r>
          </a:p>
        </p:txBody>
      </p:sp>
      <p:sp>
        <p:nvSpPr>
          <p:cNvPr id="6" name="cannon-특수 공격-heading">
            <a:extLst>
              <a:ext uri="{FF2B5EF4-FFF2-40B4-BE49-F238E27FC236}">
                <a16:creationId xmlns:a16="http://schemas.microsoft.com/office/drawing/2014/main" id="{9744B86F-A718-455B-91D4-1EC71724A930}"/>
              </a:ext>
            </a:extLst>
          </p:cNvPr>
          <p:cNvSpPr>
            <a:spLocks noGrp="1"/>
          </p:cNvSpPr>
          <p:nvPr/>
        </p:nvSpPr>
        <p:spPr>
          <a:xfrm>
            <a:off x="400050" y="3143250"/>
            <a:ext cx="60960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특수 공격</a:t>
            </a:r>
          </a:p>
        </p:txBody>
      </p:sp>
      <p:sp>
        <p:nvSpPr>
          <p:cNvPr id="7" name="cannon-특수 공격-rule">
            <a:extLst>
              <a:ext uri="{FF2B5EF4-FFF2-40B4-BE49-F238E27FC236}">
                <a16:creationId xmlns:a16="http://schemas.microsoft.com/office/drawing/2014/main" id="{317AAC03-DE2E-408B-85E0-551C720FDF9C}"/>
              </a:ext>
            </a:extLst>
          </p:cNvPr>
          <p:cNvSpPr>
            <a:spLocks noGrp="1"/>
          </p:cNvSpPr>
          <p:nvPr/>
        </p:nvSpPr>
        <p:spPr>
          <a:xfrm>
            <a:off x="400050" y="3543300"/>
            <a:ext cx="685800" cy="381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8" name="cannon-특수 공격-body">
            <a:extLst>
              <a:ext uri="{FF2B5EF4-FFF2-40B4-BE49-F238E27FC236}">
                <a16:creationId xmlns:a16="http://schemas.microsoft.com/office/drawing/2014/main" id="{C9D1B7D4-C8DE-4056-B209-EE2ED89428EA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6096000" cy="11049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57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탄환 이동속도가 빠르고, 폭발 범위는 작지만 데미지가 강한 공격을 사용한다.</a:t>
            </a:r>
          </a:p>
        </p:txBody>
      </p:sp>
      <p:sp>
        <p:nvSpPr>
          <p:cNvPr id="9" name="cannon-note-band">
            <a:extLst>
              <a:ext uri="{FF2B5EF4-FFF2-40B4-BE49-F238E27FC236}">
                <a16:creationId xmlns:a16="http://schemas.microsoft.com/office/drawing/2014/main" id="{96998A13-1C1A-4AC3-BF03-C89CC9D660D9}"/>
              </a:ext>
            </a:extLst>
          </p:cNvPr>
          <p:cNvSpPr>
            <a:spLocks noGrp="1"/>
          </p:cNvSpPr>
          <p:nvPr/>
        </p:nvSpPr>
        <p:spPr>
          <a:xfrm>
            <a:off x="400050" y="5219700"/>
            <a:ext cx="6096000" cy="66675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0" name="cannon-note">
            <a:extLst>
              <a:ext uri="{FF2B5EF4-FFF2-40B4-BE49-F238E27FC236}">
                <a16:creationId xmlns:a16="http://schemas.microsoft.com/office/drawing/2014/main" id="{0EECBD9E-7391-4DB6-9212-B4139798448A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56769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스탯은 현재 공통 기본값 기준. 각도 조절 Min/Max 값은 미정.</a:t>
            </a:r>
          </a:p>
        </p:txBody>
      </p:sp>
      <p:sp>
        <p:nvSpPr>
          <p:cNvPr id="11" name="cannon-image-slot-panel">
            <a:extLst>
              <a:ext uri="{FF2B5EF4-FFF2-40B4-BE49-F238E27FC236}">
                <a16:creationId xmlns:a16="http://schemas.microsoft.com/office/drawing/2014/main" id="{F5639004-B6D1-4497-BF82-B6E5AC274DF6}"/>
              </a:ext>
            </a:extLst>
          </p:cNvPr>
          <p:cNvSpPr>
            <a:spLocks noGrp="1"/>
          </p:cNvSpPr>
          <p:nvPr/>
        </p:nvSpPr>
        <p:spPr>
          <a:xfrm>
            <a:off x="7372350" y="1181100"/>
            <a:ext cx="4419600" cy="260985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2" name="cannon-image-slot-accent">
            <a:extLst>
              <a:ext uri="{FF2B5EF4-FFF2-40B4-BE49-F238E27FC236}">
                <a16:creationId xmlns:a16="http://schemas.microsoft.com/office/drawing/2014/main" id="{411E9A9A-128C-40D5-91E5-E2CEBC95453B}"/>
              </a:ext>
            </a:extLst>
          </p:cNvPr>
          <p:cNvSpPr>
            <a:spLocks noGrp="1"/>
          </p:cNvSpPr>
          <p:nvPr/>
        </p:nvSpPr>
        <p:spPr>
          <a:xfrm>
            <a:off x="7372350" y="1181100"/>
            <a:ext cx="76200" cy="260985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13" name="cannon-image-slot-label">
            <a:extLst>
              <a:ext uri="{FF2B5EF4-FFF2-40B4-BE49-F238E27FC236}">
                <a16:creationId xmlns:a16="http://schemas.microsoft.com/office/drawing/2014/main" id="{89CE1EAF-0FD3-4781-BB05-18EE1843AB22}"/>
              </a:ext>
            </a:extLst>
          </p:cNvPr>
          <p:cNvSpPr>
            <a:spLocks noGrp="1"/>
          </p:cNvSpPr>
          <p:nvPr/>
        </p:nvSpPr>
        <p:spPr>
          <a:xfrm>
            <a:off x="7639050" y="1447800"/>
            <a:ext cx="38862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대표 이미지</a:t>
            </a:r>
          </a:p>
        </p:txBody>
      </p:sp>
      <p:sp>
        <p:nvSpPr>
          <p:cNvPr id="14" name="cannon-image-slot-hint">
            <a:extLst>
              <a:ext uri="{FF2B5EF4-FFF2-40B4-BE49-F238E27FC236}">
                <a16:creationId xmlns:a16="http://schemas.microsoft.com/office/drawing/2014/main" id="{48A14E89-042B-47EE-99B4-FC2BF9C39AD8}"/>
              </a:ext>
            </a:extLst>
          </p:cNvPr>
          <p:cNvSpPr>
            <a:spLocks noGrp="1"/>
          </p:cNvSpPr>
          <p:nvPr/>
        </p:nvSpPr>
        <p:spPr>
          <a:xfrm>
            <a:off x="7639050" y="3143250"/>
            <a:ext cx="3886200" cy="3810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Cannon 레퍼런스 이미지 삽입</a:t>
            </a:r>
          </a:p>
        </p:txBody>
      </p:sp>
      <p:sp>
        <p:nvSpPr>
          <p:cNvPr id="15" name="cannon-stats-heading">
            <a:extLst>
              <a:ext uri="{FF2B5EF4-FFF2-40B4-BE49-F238E27FC236}">
                <a16:creationId xmlns:a16="http://schemas.microsoft.com/office/drawing/2014/main" id="{20F4BBE7-9064-45C9-BE58-A683609FAB64}"/>
              </a:ext>
            </a:extLst>
          </p:cNvPr>
          <p:cNvSpPr>
            <a:spLocks noGrp="1"/>
          </p:cNvSpPr>
          <p:nvPr/>
        </p:nvSpPr>
        <p:spPr>
          <a:xfrm>
            <a:off x="7372350" y="4057650"/>
            <a:ext cx="44196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스탯</a:t>
            </a:r>
          </a:p>
        </p:txBody>
      </p:sp>
      <p:sp>
        <p:nvSpPr>
          <p:cNvPr id="16" name="cannon-stat-bg-1">
            <a:extLst>
              <a:ext uri="{FF2B5EF4-FFF2-40B4-BE49-F238E27FC236}">
                <a16:creationId xmlns:a16="http://schemas.microsoft.com/office/drawing/2014/main" id="{FCC102C0-0093-4E55-AD3F-AF1148795035}"/>
              </a:ext>
            </a:extLst>
          </p:cNvPr>
          <p:cNvSpPr>
            <a:spLocks noGrp="1"/>
          </p:cNvSpPr>
          <p:nvPr/>
        </p:nvSpPr>
        <p:spPr>
          <a:xfrm>
            <a:off x="7372350" y="4438650"/>
            <a:ext cx="4419600" cy="280035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7" name="cannon-stat-label-1">
            <a:extLst>
              <a:ext uri="{FF2B5EF4-FFF2-40B4-BE49-F238E27FC236}">
                <a16:creationId xmlns:a16="http://schemas.microsoft.com/office/drawing/2014/main" id="{9EF96083-168C-47E7-AD4F-D4DB5DE16380}"/>
              </a:ext>
            </a:extLst>
          </p:cNvPr>
          <p:cNvSpPr>
            <a:spLocks noGrp="1"/>
          </p:cNvSpPr>
          <p:nvPr/>
        </p:nvSpPr>
        <p:spPr>
          <a:xfrm>
            <a:off x="7505700" y="448627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최대 체력</a:t>
            </a:r>
          </a:p>
        </p:txBody>
      </p:sp>
      <p:sp>
        <p:nvSpPr>
          <p:cNvPr id="18" name="cannon-stat-value-1">
            <a:extLst>
              <a:ext uri="{FF2B5EF4-FFF2-40B4-BE49-F238E27FC236}">
                <a16:creationId xmlns:a16="http://schemas.microsoft.com/office/drawing/2014/main" id="{2AF46C49-D1FF-46E7-8C42-7B1D4CC3A1D3}"/>
              </a:ext>
            </a:extLst>
          </p:cNvPr>
          <p:cNvSpPr>
            <a:spLocks noGrp="1"/>
          </p:cNvSpPr>
          <p:nvPr/>
        </p:nvSpPr>
        <p:spPr>
          <a:xfrm>
            <a:off x="8896350" y="448627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100</a:t>
            </a:r>
          </a:p>
        </p:txBody>
      </p:sp>
      <p:sp>
        <p:nvSpPr>
          <p:cNvPr id="19" name="cannon-stat-bg-2">
            <a:extLst>
              <a:ext uri="{FF2B5EF4-FFF2-40B4-BE49-F238E27FC236}">
                <a16:creationId xmlns:a16="http://schemas.microsoft.com/office/drawing/2014/main" id="{CC8F0319-BBF4-437D-A59F-4CB46D742E63}"/>
              </a:ext>
            </a:extLst>
          </p:cNvPr>
          <p:cNvSpPr>
            <a:spLocks noGrp="1"/>
          </p:cNvSpPr>
          <p:nvPr/>
        </p:nvSpPr>
        <p:spPr>
          <a:xfrm>
            <a:off x="7372350" y="4728210"/>
            <a:ext cx="4419600" cy="28003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cannon-stat-label-2">
            <a:extLst>
              <a:ext uri="{FF2B5EF4-FFF2-40B4-BE49-F238E27FC236}">
                <a16:creationId xmlns:a16="http://schemas.microsoft.com/office/drawing/2014/main" id="{1C1D2F75-3983-4180-B47C-0EC323BCBE9A}"/>
              </a:ext>
            </a:extLst>
          </p:cNvPr>
          <p:cNvSpPr>
            <a:spLocks noGrp="1"/>
          </p:cNvSpPr>
          <p:nvPr/>
        </p:nvSpPr>
        <p:spPr>
          <a:xfrm>
            <a:off x="7505700" y="477583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이동력</a:t>
            </a:r>
          </a:p>
        </p:txBody>
      </p:sp>
      <p:sp>
        <p:nvSpPr>
          <p:cNvPr id="21" name="cannon-stat-value-2">
            <a:extLst>
              <a:ext uri="{FF2B5EF4-FFF2-40B4-BE49-F238E27FC236}">
                <a16:creationId xmlns:a16="http://schemas.microsoft.com/office/drawing/2014/main" id="{8DED9082-006A-4098-A920-F47179904882}"/>
              </a:ext>
            </a:extLst>
          </p:cNvPr>
          <p:cNvSpPr>
            <a:spLocks noGrp="1"/>
          </p:cNvSpPr>
          <p:nvPr/>
        </p:nvSpPr>
        <p:spPr>
          <a:xfrm>
            <a:off x="8896350" y="477583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420</a:t>
            </a:r>
          </a:p>
        </p:txBody>
      </p:sp>
      <p:sp>
        <p:nvSpPr>
          <p:cNvPr id="22" name="cannon-stat-bg-3">
            <a:extLst>
              <a:ext uri="{FF2B5EF4-FFF2-40B4-BE49-F238E27FC236}">
                <a16:creationId xmlns:a16="http://schemas.microsoft.com/office/drawing/2014/main" id="{B44C5060-677A-4807-B08D-6EE48A3BA97D}"/>
              </a:ext>
            </a:extLst>
          </p:cNvPr>
          <p:cNvSpPr>
            <a:spLocks noGrp="1"/>
          </p:cNvSpPr>
          <p:nvPr/>
        </p:nvSpPr>
        <p:spPr>
          <a:xfrm>
            <a:off x="7372350" y="5017770"/>
            <a:ext cx="4419600" cy="280035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3" name="cannon-stat-label-3">
            <a:extLst>
              <a:ext uri="{FF2B5EF4-FFF2-40B4-BE49-F238E27FC236}">
                <a16:creationId xmlns:a16="http://schemas.microsoft.com/office/drawing/2014/main" id="{42DC9451-3268-4D5E-A36A-E8BC2FEC01F7}"/>
              </a:ext>
            </a:extLst>
          </p:cNvPr>
          <p:cNvSpPr>
            <a:spLocks noGrp="1"/>
          </p:cNvSpPr>
          <p:nvPr/>
        </p:nvSpPr>
        <p:spPr>
          <a:xfrm>
            <a:off x="7505700" y="506539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탄환 속도</a:t>
            </a:r>
          </a:p>
        </p:txBody>
      </p:sp>
      <p:sp>
        <p:nvSpPr>
          <p:cNvPr id="24" name="cannon-stat-value-3">
            <a:extLst>
              <a:ext uri="{FF2B5EF4-FFF2-40B4-BE49-F238E27FC236}">
                <a16:creationId xmlns:a16="http://schemas.microsoft.com/office/drawing/2014/main" id="{21B192BA-B120-49E9-8784-57EA229D5A7E}"/>
              </a:ext>
            </a:extLst>
          </p:cNvPr>
          <p:cNvSpPr>
            <a:spLocks noGrp="1"/>
          </p:cNvSpPr>
          <p:nvPr/>
        </p:nvSpPr>
        <p:spPr>
          <a:xfrm>
            <a:off x="8896350" y="506539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1.0</a:t>
            </a:r>
          </a:p>
        </p:txBody>
      </p:sp>
      <p:sp>
        <p:nvSpPr>
          <p:cNvPr id="25" name="cannon-stat-bg-4">
            <a:extLst>
              <a:ext uri="{FF2B5EF4-FFF2-40B4-BE49-F238E27FC236}">
                <a16:creationId xmlns:a16="http://schemas.microsoft.com/office/drawing/2014/main" id="{B993CBF8-B33F-4679-86FE-C9623C1E9C51}"/>
              </a:ext>
            </a:extLst>
          </p:cNvPr>
          <p:cNvSpPr>
            <a:spLocks noGrp="1"/>
          </p:cNvSpPr>
          <p:nvPr/>
        </p:nvSpPr>
        <p:spPr>
          <a:xfrm>
            <a:off x="7372350" y="5307330"/>
            <a:ext cx="4419600" cy="28003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cannon-stat-label-4">
            <a:extLst>
              <a:ext uri="{FF2B5EF4-FFF2-40B4-BE49-F238E27FC236}">
                <a16:creationId xmlns:a16="http://schemas.microsoft.com/office/drawing/2014/main" id="{99606750-3997-4707-886A-94D9D61B32C4}"/>
              </a:ext>
            </a:extLst>
          </p:cNvPr>
          <p:cNvSpPr>
            <a:spLocks noGrp="1"/>
          </p:cNvSpPr>
          <p:nvPr/>
        </p:nvSpPr>
        <p:spPr>
          <a:xfrm>
            <a:off x="7505700" y="535495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투사체 수</a:t>
            </a:r>
          </a:p>
        </p:txBody>
      </p:sp>
      <p:sp>
        <p:nvSpPr>
          <p:cNvPr id="27" name="cannon-stat-value-4">
            <a:extLst>
              <a:ext uri="{FF2B5EF4-FFF2-40B4-BE49-F238E27FC236}">
                <a16:creationId xmlns:a16="http://schemas.microsoft.com/office/drawing/2014/main" id="{EF71E24D-F4D7-487D-9F7E-A378C750A039}"/>
              </a:ext>
            </a:extLst>
          </p:cNvPr>
          <p:cNvSpPr>
            <a:spLocks noGrp="1"/>
          </p:cNvSpPr>
          <p:nvPr/>
        </p:nvSpPr>
        <p:spPr>
          <a:xfrm>
            <a:off x="8896350" y="535495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28" name="cannon-stat-bg-5">
            <a:extLst>
              <a:ext uri="{FF2B5EF4-FFF2-40B4-BE49-F238E27FC236}">
                <a16:creationId xmlns:a16="http://schemas.microsoft.com/office/drawing/2014/main" id="{37EC278E-5D45-40F4-820C-5538A0C0B701}"/>
              </a:ext>
            </a:extLst>
          </p:cNvPr>
          <p:cNvSpPr>
            <a:spLocks noGrp="1"/>
          </p:cNvSpPr>
          <p:nvPr/>
        </p:nvSpPr>
        <p:spPr>
          <a:xfrm>
            <a:off x="7372350" y="5596890"/>
            <a:ext cx="4419600" cy="280035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9" name="cannon-stat-label-5">
            <a:extLst>
              <a:ext uri="{FF2B5EF4-FFF2-40B4-BE49-F238E27FC236}">
                <a16:creationId xmlns:a16="http://schemas.microsoft.com/office/drawing/2014/main" id="{A2DD3F94-BC97-4815-A49A-57CCC2F3D1B8}"/>
              </a:ext>
            </a:extLst>
          </p:cNvPr>
          <p:cNvSpPr>
            <a:spLocks noGrp="1"/>
          </p:cNvSpPr>
          <p:nvPr/>
        </p:nvSpPr>
        <p:spPr>
          <a:xfrm>
            <a:off x="7505700" y="564451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각도 조절</a:t>
            </a:r>
          </a:p>
        </p:txBody>
      </p:sp>
      <p:sp>
        <p:nvSpPr>
          <p:cNvPr id="30" name="cannon-stat-value-5">
            <a:extLst>
              <a:ext uri="{FF2B5EF4-FFF2-40B4-BE49-F238E27FC236}">
                <a16:creationId xmlns:a16="http://schemas.microsoft.com/office/drawing/2014/main" id="{872A529B-7629-454E-9F04-125CC0B940A0}"/>
              </a:ext>
            </a:extLst>
          </p:cNvPr>
          <p:cNvSpPr>
            <a:spLocks noGrp="1"/>
          </p:cNvSpPr>
          <p:nvPr/>
        </p:nvSpPr>
        <p:spPr>
          <a:xfrm>
            <a:off x="8896350" y="564451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Min: 미정 / Max: 미정</a:t>
            </a:r>
          </a:p>
        </p:txBody>
      </p:sp>
      <p:sp>
        <p:nvSpPr>
          <p:cNvPr id="31" name="footer-rule-2">
            <a:extLst>
              <a:ext uri="{FF2B5EF4-FFF2-40B4-BE49-F238E27FC236}">
                <a16:creationId xmlns:a16="http://schemas.microsoft.com/office/drawing/2014/main" id="{01038593-43AD-4266-A95C-B845F47DCE6C}"/>
              </a:ext>
            </a:extLst>
          </p:cNvPr>
          <p:cNvSpPr>
            <a:spLocks noGrp="1"/>
          </p:cNvSpPr>
          <p:nvPr/>
        </p:nvSpPr>
        <p:spPr>
          <a:xfrm>
            <a:off x="400050" y="6172200"/>
            <a:ext cx="11391900" cy="9525"/>
          </a:xfrm>
          <a:prstGeom prst="rect">
            <a:avLst/>
          </a:prstGeom>
          <a:solidFill>
            <a:srgbClr val="B8BCC4"/>
          </a:solidFill>
        </p:spPr>
      </p:sp>
      <p:sp>
        <p:nvSpPr>
          <p:cNvPr id="32" name="footer-source-2">
            <a:extLst>
              <a:ext uri="{FF2B5EF4-FFF2-40B4-BE49-F238E27FC236}">
                <a16:creationId xmlns:a16="http://schemas.microsoft.com/office/drawing/2014/main" id="{CE958354-EF5A-44B1-9D48-80135315FFCF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docs/CHARACTER_SETTING.md</a:t>
            </a:r>
          </a:p>
        </p:txBody>
      </p:sp>
      <p:sp>
        <p:nvSpPr>
          <p:cNvPr id="33" name="footer-page-2">
            <a:extLst>
              <a:ext uri="{FF2B5EF4-FFF2-40B4-BE49-F238E27FC236}">
                <a16:creationId xmlns:a16="http://schemas.microsoft.com/office/drawing/2014/main" id="{3AF8333E-1D70-419F-AE95-1A2399834C4D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55530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andit-title">
            <a:extLst>
              <a:ext uri="{FF2B5EF4-FFF2-40B4-BE49-F238E27FC236}">
                <a16:creationId xmlns:a16="http://schemas.microsoft.com/office/drawing/2014/main" id="{DB59B0EE-DCAC-47E5-9321-E2C87EC11764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905500" cy="704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37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Bandit</a:t>
            </a:r>
          </a:p>
        </p:txBody>
      </p:sp>
      <p:sp>
        <p:nvSpPr>
          <p:cNvPr id="2" name="bandit-eyebrow">
            <a:extLst>
              <a:ext uri="{FF2B5EF4-FFF2-40B4-BE49-F238E27FC236}">
                <a16:creationId xmlns:a16="http://schemas.microsoft.com/office/drawing/2014/main" id="{88919C50-CAEF-4246-8A52-0AC454924AC2}"/>
              </a:ext>
            </a:extLst>
          </p:cNvPr>
          <p:cNvSpPr>
            <a:spLocks noGrp="1"/>
          </p:cNvSpPr>
          <p:nvPr/>
        </p:nvSpPr>
        <p:spPr>
          <a:xfrm>
            <a:off x="7372350" y="476250"/>
            <a:ext cx="44196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r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Playable Character Draft</a:t>
            </a:r>
          </a:p>
        </p:txBody>
      </p:sp>
      <p:sp>
        <p:nvSpPr>
          <p:cNvPr id="3" name="bandit-콘셉트-heading">
            <a:extLst>
              <a:ext uri="{FF2B5EF4-FFF2-40B4-BE49-F238E27FC236}">
                <a16:creationId xmlns:a16="http://schemas.microsoft.com/office/drawing/2014/main" id="{DB0265CF-8FFA-4D70-AEE3-B3EB86D70439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60960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콘셉트</a:t>
            </a:r>
          </a:p>
        </p:txBody>
      </p:sp>
      <p:sp>
        <p:nvSpPr>
          <p:cNvPr id="4" name="bandit-콘셉트-rule">
            <a:extLst>
              <a:ext uri="{FF2B5EF4-FFF2-40B4-BE49-F238E27FC236}">
                <a16:creationId xmlns:a16="http://schemas.microsoft.com/office/drawing/2014/main" id="{EE9FEF32-F0BD-42B1-B272-23CF89CA405A}"/>
              </a:ext>
            </a:extLst>
          </p:cNvPr>
          <p:cNvSpPr>
            <a:spLocks noGrp="1"/>
          </p:cNvSpPr>
          <p:nvPr/>
        </p:nvSpPr>
        <p:spPr>
          <a:xfrm>
            <a:off x="400050" y="1790700"/>
            <a:ext cx="685800" cy="381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5" name="bandit-콘셉트-body">
            <a:extLst>
              <a:ext uri="{FF2B5EF4-FFF2-40B4-BE49-F238E27FC236}">
                <a16:creationId xmlns:a16="http://schemas.microsoft.com/office/drawing/2014/main" id="{7BF121B2-03DA-4909-BB8A-FB138AC8B1B2}"/>
              </a:ext>
            </a:extLst>
          </p:cNvPr>
          <p:cNvSpPr>
            <a:spLocks noGrp="1"/>
          </p:cNvSpPr>
          <p:nvPr/>
        </p:nvSpPr>
        <p:spPr>
          <a:xfrm>
            <a:off x="400050" y="1962150"/>
            <a:ext cx="6096000" cy="8191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5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미정</a:t>
            </a:r>
          </a:p>
        </p:txBody>
      </p:sp>
      <p:sp>
        <p:nvSpPr>
          <p:cNvPr id="6" name="bandit-특수 공격-heading">
            <a:extLst>
              <a:ext uri="{FF2B5EF4-FFF2-40B4-BE49-F238E27FC236}">
                <a16:creationId xmlns:a16="http://schemas.microsoft.com/office/drawing/2014/main" id="{E63E70DB-45F3-4151-9097-3900E7219B2F}"/>
              </a:ext>
            </a:extLst>
          </p:cNvPr>
          <p:cNvSpPr>
            <a:spLocks noGrp="1"/>
          </p:cNvSpPr>
          <p:nvPr/>
        </p:nvSpPr>
        <p:spPr>
          <a:xfrm>
            <a:off x="400050" y="3143250"/>
            <a:ext cx="60960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특수 공격</a:t>
            </a:r>
          </a:p>
        </p:txBody>
      </p:sp>
      <p:sp>
        <p:nvSpPr>
          <p:cNvPr id="7" name="bandit-특수 공격-rule">
            <a:extLst>
              <a:ext uri="{FF2B5EF4-FFF2-40B4-BE49-F238E27FC236}">
                <a16:creationId xmlns:a16="http://schemas.microsoft.com/office/drawing/2014/main" id="{604806AC-AD30-4433-AA79-1561CC416C80}"/>
              </a:ext>
            </a:extLst>
          </p:cNvPr>
          <p:cNvSpPr>
            <a:spLocks noGrp="1"/>
          </p:cNvSpPr>
          <p:nvPr/>
        </p:nvSpPr>
        <p:spPr>
          <a:xfrm>
            <a:off x="400050" y="3543300"/>
            <a:ext cx="685800" cy="381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8" name="bandit-특수 공격-body">
            <a:extLst>
              <a:ext uri="{FF2B5EF4-FFF2-40B4-BE49-F238E27FC236}">
                <a16:creationId xmlns:a16="http://schemas.microsoft.com/office/drawing/2014/main" id="{DE36A920-15E9-478E-A515-8E22F10408A9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6096000" cy="11049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5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미정</a:t>
            </a:r>
          </a:p>
        </p:txBody>
      </p:sp>
      <p:sp>
        <p:nvSpPr>
          <p:cNvPr id="9" name="bandit-note-band">
            <a:extLst>
              <a:ext uri="{FF2B5EF4-FFF2-40B4-BE49-F238E27FC236}">
                <a16:creationId xmlns:a16="http://schemas.microsoft.com/office/drawing/2014/main" id="{B8995F33-C60D-4B1F-899C-B0AF812453C7}"/>
              </a:ext>
            </a:extLst>
          </p:cNvPr>
          <p:cNvSpPr>
            <a:spLocks noGrp="1"/>
          </p:cNvSpPr>
          <p:nvPr/>
        </p:nvSpPr>
        <p:spPr>
          <a:xfrm>
            <a:off x="400050" y="5219700"/>
            <a:ext cx="6096000" cy="66675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0" name="bandit-note">
            <a:extLst>
              <a:ext uri="{FF2B5EF4-FFF2-40B4-BE49-F238E27FC236}">
                <a16:creationId xmlns:a16="http://schemas.microsoft.com/office/drawing/2014/main" id="{591B8DC7-9CDD-4339-8416-A1D503AC357A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56769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스탯은 현재 공통 기본값 기준. 각도 조절 Min/Max 값은 미정.</a:t>
            </a:r>
          </a:p>
        </p:txBody>
      </p:sp>
      <p:sp>
        <p:nvSpPr>
          <p:cNvPr id="11" name="bandit-image-slot-panel">
            <a:extLst>
              <a:ext uri="{FF2B5EF4-FFF2-40B4-BE49-F238E27FC236}">
                <a16:creationId xmlns:a16="http://schemas.microsoft.com/office/drawing/2014/main" id="{A0E16D41-8C44-473F-B606-4C2D22CF90D6}"/>
              </a:ext>
            </a:extLst>
          </p:cNvPr>
          <p:cNvSpPr>
            <a:spLocks noGrp="1"/>
          </p:cNvSpPr>
          <p:nvPr/>
        </p:nvSpPr>
        <p:spPr>
          <a:xfrm>
            <a:off x="7372350" y="1181100"/>
            <a:ext cx="4419600" cy="260985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2" name="bandit-image-slot-accent">
            <a:extLst>
              <a:ext uri="{FF2B5EF4-FFF2-40B4-BE49-F238E27FC236}">
                <a16:creationId xmlns:a16="http://schemas.microsoft.com/office/drawing/2014/main" id="{29243381-8B0B-4EBA-BBE7-0BDA941F222F}"/>
              </a:ext>
            </a:extLst>
          </p:cNvPr>
          <p:cNvSpPr>
            <a:spLocks noGrp="1"/>
          </p:cNvSpPr>
          <p:nvPr/>
        </p:nvSpPr>
        <p:spPr>
          <a:xfrm>
            <a:off x="7372350" y="1181100"/>
            <a:ext cx="76200" cy="260985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13" name="bandit-image-slot-label">
            <a:extLst>
              <a:ext uri="{FF2B5EF4-FFF2-40B4-BE49-F238E27FC236}">
                <a16:creationId xmlns:a16="http://schemas.microsoft.com/office/drawing/2014/main" id="{977FA87F-0A32-4EAE-809A-88F367146DAD}"/>
              </a:ext>
            </a:extLst>
          </p:cNvPr>
          <p:cNvSpPr>
            <a:spLocks noGrp="1"/>
          </p:cNvSpPr>
          <p:nvPr/>
        </p:nvSpPr>
        <p:spPr>
          <a:xfrm>
            <a:off x="7639050" y="1447800"/>
            <a:ext cx="38862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대표 이미지</a:t>
            </a:r>
          </a:p>
        </p:txBody>
      </p:sp>
      <p:sp>
        <p:nvSpPr>
          <p:cNvPr id="14" name="bandit-image-slot-hint">
            <a:extLst>
              <a:ext uri="{FF2B5EF4-FFF2-40B4-BE49-F238E27FC236}">
                <a16:creationId xmlns:a16="http://schemas.microsoft.com/office/drawing/2014/main" id="{588160A8-834A-405F-A159-AD4DB4EDCFDB}"/>
              </a:ext>
            </a:extLst>
          </p:cNvPr>
          <p:cNvSpPr>
            <a:spLocks noGrp="1"/>
          </p:cNvSpPr>
          <p:nvPr/>
        </p:nvSpPr>
        <p:spPr>
          <a:xfrm>
            <a:off x="7639050" y="3143250"/>
            <a:ext cx="3886200" cy="3810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Bandit 레퍼런스 이미지 삽입</a:t>
            </a:r>
          </a:p>
        </p:txBody>
      </p:sp>
      <p:sp>
        <p:nvSpPr>
          <p:cNvPr id="15" name="bandit-stats-heading">
            <a:extLst>
              <a:ext uri="{FF2B5EF4-FFF2-40B4-BE49-F238E27FC236}">
                <a16:creationId xmlns:a16="http://schemas.microsoft.com/office/drawing/2014/main" id="{F02C54E8-B88D-4C23-83EE-28D6B090B02F}"/>
              </a:ext>
            </a:extLst>
          </p:cNvPr>
          <p:cNvSpPr>
            <a:spLocks noGrp="1"/>
          </p:cNvSpPr>
          <p:nvPr/>
        </p:nvSpPr>
        <p:spPr>
          <a:xfrm>
            <a:off x="7372350" y="4057650"/>
            <a:ext cx="44196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스탯</a:t>
            </a:r>
          </a:p>
        </p:txBody>
      </p:sp>
      <p:sp>
        <p:nvSpPr>
          <p:cNvPr id="16" name="bandit-stat-bg-1">
            <a:extLst>
              <a:ext uri="{FF2B5EF4-FFF2-40B4-BE49-F238E27FC236}">
                <a16:creationId xmlns:a16="http://schemas.microsoft.com/office/drawing/2014/main" id="{DE7D9450-BD82-4776-8408-BABE8761EB46}"/>
              </a:ext>
            </a:extLst>
          </p:cNvPr>
          <p:cNvSpPr>
            <a:spLocks noGrp="1"/>
          </p:cNvSpPr>
          <p:nvPr/>
        </p:nvSpPr>
        <p:spPr>
          <a:xfrm>
            <a:off x="7372350" y="4438650"/>
            <a:ext cx="4419600" cy="280035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7" name="bandit-stat-label-1">
            <a:extLst>
              <a:ext uri="{FF2B5EF4-FFF2-40B4-BE49-F238E27FC236}">
                <a16:creationId xmlns:a16="http://schemas.microsoft.com/office/drawing/2014/main" id="{5AF73950-84FC-48B2-90EA-7BA6A15F812D}"/>
              </a:ext>
            </a:extLst>
          </p:cNvPr>
          <p:cNvSpPr>
            <a:spLocks noGrp="1"/>
          </p:cNvSpPr>
          <p:nvPr/>
        </p:nvSpPr>
        <p:spPr>
          <a:xfrm>
            <a:off x="7505700" y="448627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최대 체력</a:t>
            </a:r>
          </a:p>
        </p:txBody>
      </p:sp>
      <p:sp>
        <p:nvSpPr>
          <p:cNvPr id="18" name="bandit-stat-value-1">
            <a:extLst>
              <a:ext uri="{FF2B5EF4-FFF2-40B4-BE49-F238E27FC236}">
                <a16:creationId xmlns:a16="http://schemas.microsoft.com/office/drawing/2014/main" id="{A781345F-8638-4D69-A5E2-F230EB195304}"/>
              </a:ext>
            </a:extLst>
          </p:cNvPr>
          <p:cNvSpPr>
            <a:spLocks noGrp="1"/>
          </p:cNvSpPr>
          <p:nvPr/>
        </p:nvSpPr>
        <p:spPr>
          <a:xfrm>
            <a:off x="8896350" y="448627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100</a:t>
            </a:r>
          </a:p>
        </p:txBody>
      </p:sp>
      <p:sp>
        <p:nvSpPr>
          <p:cNvPr id="19" name="bandit-stat-bg-2">
            <a:extLst>
              <a:ext uri="{FF2B5EF4-FFF2-40B4-BE49-F238E27FC236}">
                <a16:creationId xmlns:a16="http://schemas.microsoft.com/office/drawing/2014/main" id="{773F2F4B-78F1-4A27-9FB3-AD3903668443}"/>
              </a:ext>
            </a:extLst>
          </p:cNvPr>
          <p:cNvSpPr>
            <a:spLocks noGrp="1"/>
          </p:cNvSpPr>
          <p:nvPr/>
        </p:nvSpPr>
        <p:spPr>
          <a:xfrm>
            <a:off x="7372350" y="4728210"/>
            <a:ext cx="4419600" cy="28003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bandit-stat-label-2">
            <a:extLst>
              <a:ext uri="{FF2B5EF4-FFF2-40B4-BE49-F238E27FC236}">
                <a16:creationId xmlns:a16="http://schemas.microsoft.com/office/drawing/2014/main" id="{7411C0E0-60BE-49AA-8813-3F1DE6A510AB}"/>
              </a:ext>
            </a:extLst>
          </p:cNvPr>
          <p:cNvSpPr>
            <a:spLocks noGrp="1"/>
          </p:cNvSpPr>
          <p:nvPr/>
        </p:nvSpPr>
        <p:spPr>
          <a:xfrm>
            <a:off x="7505700" y="477583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이동력</a:t>
            </a:r>
          </a:p>
        </p:txBody>
      </p:sp>
      <p:sp>
        <p:nvSpPr>
          <p:cNvPr id="21" name="bandit-stat-value-2">
            <a:extLst>
              <a:ext uri="{FF2B5EF4-FFF2-40B4-BE49-F238E27FC236}">
                <a16:creationId xmlns:a16="http://schemas.microsoft.com/office/drawing/2014/main" id="{B7B7D6A7-BF12-46B4-9D73-D55467458849}"/>
              </a:ext>
            </a:extLst>
          </p:cNvPr>
          <p:cNvSpPr>
            <a:spLocks noGrp="1"/>
          </p:cNvSpPr>
          <p:nvPr/>
        </p:nvSpPr>
        <p:spPr>
          <a:xfrm>
            <a:off x="8896350" y="477583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420</a:t>
            </a:r>
          </a:p>
        </p:txBody>
      </p:sp>
      <p:sp>
        <p:nvSpPr>
          <p:cNvPr id="22" name="bandit-stat-bg-3">
            <a:extLst>
              <a:ext uri="{FF2B5EF4-FFF2-40B4-BE49-F238E27FC236}">
                <a16:creationId xmlns:a16="http://schemas.microsoft.com/office/drawing/2014/main" id="{1855546A-E9EF-4477-BAA8-958F45F6F0ED}"/>
              </a:ext>
            </a:extLst>
          </p:cNvPr>
          <p:cNvSpPr>
            <a:spLocks noGrp="1"/>
          </p:cNvSpPr>
          <p:nvPr/>
        </p:nvSpPr>
        <p:spPr>
          <a:xfrm>
            <a:off x="7372350" y="5017770"/>
            <a:ext cx="4419600" cy="280035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3" name="bandit-stat-label-3">
            <a:extLst>
              <a:ext uri="{FF2B5EF4-FFF2-40B4-BE49-F238E27FC236}">
                <a16:creationId xmlns:a16="http://schemas.microsoft.com/office/drawing/2014/main" id="{864A8CE2-64D4-40BD-92F6-EF4DAE8B15C2}"/>
              </a:ext>
            </a:extLst>
          </p:cNvPr>
          <p:cNvSpPr>
            <a:spLocks noGrp="1"/>
          </p:cNvSpPr>
          <p:nvPr/>
        </p:nvSpPr>
        <p:spPr>
          <a:xfrm>
            <a:off x="7505700" y="506539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탄환 속도</a:t>
            </a:r>
          </a:p>
        </p:txBody>
      </p:sp>
      <p:sp>
        <p:nvSpPr>
          <p:cNvPr id="24" name="bandit-stat-value-3">
            <a:extLst>
              <a:ext uri="{FF2B5EF4-FFF2-40B4-BE49-F238E27FC236}">
                <a16:creationId xmlns:a16="http://schemas.microsoft.com/office/drawing/2014/main" id="{4A0F892E-F06A-4A47-B883-F98E4674613B}"/>
              </a:ext>
            </a:extLst>
          </p:cNvPr>
          <p:cNvSpPr>
            <a:spLocks noGrp="1"/>
          </p:cNvSpPr>
          <p:nvPr/>
        </p:nvSpPr>
        <p:spPr>
          <a:xfrm>
            <a:off x="8896350" y="506539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1.0</a:t>
            </a:r>
          </a:p>
        </p:txBody>
      </p:sp>
      <p:sp>
        <p:nvSpPr>
          <p:cNvPr id="25" name="bandit-stat-bg-4">
            <a:extLst>
              <a:ext uri="{FF2B5EF4-FFF2-40B4-BE49-F238E27FC236}">
                <a16:creationId xmlns:a16="http://schemas.microsoft.com/office/drawing/2014/main" id="{3D29412A-F698-440E-9E5F-2BCF4B142291}"/>
              </a:ext>
            </a:extLst>
          </p:cNvPr>
          <p:cNvSpPr>
            <a:spLocks noGrp="1"/>
          </p:cNvSpPr>
          <p:nvPr/>
        </p:nvSpPr>
        <p:spPr>
          <a:xfrm>
            <a:off x="7372350" y="5307330"/>
            <a:ext cx="4419600" cy="28003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bandit-stat-label-4">
            <a:extLst>
              <a:ext uri="{FF2B5EF4-FFF2-40B4-BE49-F238E27FC236}">
                <a16:creationId xmlns:a16="http://schemas.microsoft.com/office/drawing/2014/main" id="{7812F9CC-4750-4FA1-852F-A91DF5136E6C}"/>
              </a:ext>
            </a:extLst>
          </p:cNvPr>
          <p:cNvSpPr>
            <a:spLocks noGrp="1"/>
          </p:cNvSpPr>
          <p:nvPr/>
        </p:nvSpPr>
        <p:spPr>
          <a:xfrm>
            <a:off x="7505700" y="535495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투사체 수</a:t>
            </a:r>
          </a:p>
        </p:txBody>
      </p:sp>
      <p:sp>
        <p:nvSpPr>
          <p:cNvPr id="27" name="bandit-stat-value-4">
            <a:extLst>
              <a:ext uri="{FF2B5EF4-FFF2-40B4-BE49-F238E27FC236}">
                <a16:creationId xmlns:a16="http://schemas.microsoft.com/office/drawing/2014/main" id="{B619AF1A-6F45-480E-8C25-F6694A1D5F36}"/>
              </a:ext>
            </a:extLst>
          </p:cNvPr>
          <p:cNvSpPr>
            <a:spLocks noGrp="1"/>
          </p:cNvSpPr>
          <p:nvPr/>
        </p:nvSpPr>
        <p:spPr>
          <a:xfrm>
            <a:off x="8896350" y="535495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28" name="bandit-stat-bg-5">
            <a:extLst>
              <a:ext uri="{FF2B5EF4-FFF2-40B4-BE49-F238E27FC236}">
                <a16:creationId xmlns:a16="http://schemas.microsoft.com/office/drawing/2014/main" id="{1054343B-C006-4073-A99F-F4BE95DD9FD3}"/>
              </a:ext>
            </a:extLst>
          </p:cNvPr>
          <p:cNvSpPr>
            <a:spLocks noGrp="1"/>
          </p:cNvSpPr>
          <p:nvPr/>
        </p:nvSpPr>
        <p:spPr>
          <a:xfrm>
            <a:off x="7372350" y="5596890"/>
            <a:ext cx="4419600" cy="280035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9" name="bandit-stat-label-5">
            <a:extLst>
              <a:ext uri="{FF2B5EF4-FFF2-40B4-BE49-F238E27FC236}">
                <a16:creationId xmlns:a16="http://schemas.microsoft.com/office/drawing/2014/main" id="{26A3E879-C2AF-4B60-AA3C-7AE7DD4128D8}"/>
              </a:ext>
            </a:extLst>
          </p:cNvPr>
          <p:cNvSpPr>
            <a:spLocks noGrp="1"/>
          </p:cNvSpPr>
          <p:nvPr/>
        </p:nvSpPr>
        <p:spPr>
          <a:xfrm>
            <a:off x="7505700" y="564451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각도 조절</a:t>
            </a:r>
          </a:p>
        </p:txBody>
      </p:sp>
      <p:sp>
        <p:nvSpPr>
          <p:cNvPr id="30" name="bandit-stat-value-5">
            <a:extLst>
              <a:ext uri="{FF2B5EF4-FFF2-40B4-BE49-F238E27FC236}">
                <a16:creationId xmlns:a16="http://schemas.microsoft.com/office/drawing/2014/main" id="{AA032979-F91B-48FA-80E8-0D42809AC4DE}"/>
              </a:ext>
            </a:extLst>
          </p:cNvPr>
          <p:cNvSpPr>
            <a:spLocks noGrp="1"/>
          </p:cNvSpPr>
          <p:nvPr/>
        </p:nvSpPr>
        <p:spPr>
          <a:xfrm>
            <a:off x="8896350" y="564451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Min: 미정 / Max: 미정</a:t>
            </a:r>
          </a:p>
        </p:txBody>
      </p:sp>
      <p:sp>
        <p:nvSpPr>
          <p:cNvPr id="31" name="footer-rule-3">
            <a:extLst>
              <a:ext uri="{FF2B5EF4-FFF2-40B4-BE49-F238E27FC236}">
                <a16:creationId xmlns:a16="http://schemas.microsoft.com/office/drawing/2014/main" id="{1C6D9CC5-4AEF-4F91-934C-AF899609E36D}"/>
              </a:ext>
            </a:extLst>
          </p:cNvPr>
          <p:cNvSpPr>
            <a:spLocks noGrp="1"/>
          </p:cNvSpPr>
          <p:nvPr/>
        </p:nvSpPr>
        <p:spPr>
          <a:xfrm>
            <a:off x="400050" y="6172200"/>
            <a:ext cx="11391900" cy="9525"/>
          </a:xfrm>
          <a:prstGeom prst="rect">
            <a:avLst/>
          </a:prstGeom>
          <a:solidFill>
            <a:srgbClr val="B8BCC4"/>
          </a:solidFill>
        </p:spPr>
      </p:sp>
      <p:sp>
        <p:nvSpPr>
          <p:cNvPr id="32" name="footer-source-3">
            <a:extLst>
              <a:ext uri="{FF2B5EF4-FFF2-40B4-BE49-F238E27FC236}">
                <a16:creationId xmlns:a16="http://schemas.microsoft.com/office/drawing/2014/main" id="{5C307C6A-C21E-4EC6-9DFE-6F21876E4939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docs/CHARACTER_SETTING.md</a:t>
            </a:r>
          </a:p>
        </p:txBody>
      </p:sp>
      <p:sp>
        <p:nvSpPr>
          <p:cNvPr id="33" name="footer-page-3">
            <a:extLst>
              <a:ext uri="{FF2B5EF4-FFF2-40B4-BE49-F238E27FC236}">
                <a16:creationId xmlns:a16="http://schemas.microsoft.com/office/drawing/2014/main" id="{47401191-DB7C-4434-BD9E-462EEEA76A49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34063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miner-title">
            <a:extLst>
              <a:ext uri="{FF2B5EF4-FFF2-40B4-BE49-F238E27FC236}">
                <a16:creationId xmlns:a16="http://schemas.microsoft.com/office/drawing/2014/main" id="{CBE2A975-5F9D-48A4-A289-637C92B9ECDC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905500" cy="704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37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Miner</a:t>
            </a:r>
          </a:p>
        </p:txBody>
      </p:sp>
      <p:sp>
        <p:nvSpPr>
          <p:cNvPr id="2" name="miner-eyebrow">
            <a:extLst>
              <a:ext uri="{FF2B5EF4-FFF2-40B4-BE49-F238E27FC236}">
                <a16:creationId xmlns:a16="http://schemas.microsoft.com/office/drawing/2014/main" id="{0271964A-938E-44A5-83DD-F07B983070C4}"/>
              </a:ext>
            </a:extLst>
          </p:cNvPr>
          <p:cNvSpPr>
            <a:spLocks noGrp="1"/>
          </p:cNvSpPr>
          <p:nvPr/>
        </p:nvSpPr>
        <p:spPr>
          <a:xfrm>
            <a:off x="7372350" y="476250"/>
            <a:ext cx="44196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r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Playable Character Draft</a:t>
            </a:r>
          </a:p>
        </p:txBody>
      </p:sp>
      <p:sp>
        <p:nvSpPr>
          <p:cNvPr id="3" name="miner-콘셉트-heading">
            <a:extLst>
              <a:ext uri="{FF2B5EF4-FFF2-40B4-BE49-F238E27FC236}">
                <a16:creationId xmlns:a16="http://schemas.microsoft.com/office/drawing/2014/main" id="{2EDC46AF-AB82-47D4-B297-E5ADD83781ED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60960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콘셉트</a:t>
            </a:r>
          </a:p>
        </p:txBody>
      </p:sp>
      <p:sp>
        <p:nvSpPr>
          <p:cNvPr id="4" name="miner-콘셉트-rule">
            <a:extLst>
              <a:ext uri="{FF2B5EF4-FFF2-40B4-BE49-F238E27FC236}">
                <a16:creationId xmlns:a16="http://schemas.microsoft.com/office/drawing/2014/main" id="{4E03FE3E-57CD-4F02-BF82-8966EEE9C235}"/>
              </a:ext>
            </a:extLst>
          </p:cNvPr>
          <p:cNvSpPr>
            <a:spLocks noGrp="1"/>
          </p:cNvSpPr>
          <p:nvPr/>
        </p:nvSpPr>
        <p:spPr>
          <a:xfrm>
            <a:off x="400050" y="1790700"/>
            <a:ext cx="685800" cy="381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5" name="miner-콘셉트-body">
            <a:extLst>
              <a:ext uri="{FF2B5EF4-FFF2-40B4-BE49-F238E27FC236}">
                <a16:creationId xmlns:a16="http://schemas.microsoft.com/office/drawing/2014/main" id="{AB74A0B6-628B-410E-9346-0430791B45A3}"/>
              </a:ext>
            </a:extLst>
          </p:cNvPr>
          <p:cNvSpPr>
            <a:spLocks noGrp="1"/>
          </p:cNvSpPr>
          <p:nvPr/>
        </p:nvSpPr>
        <p:spPr>
          <a:xfrm>
            <a:off x="400050" y="1962150"/>
            <a:ext cx="6096000" cy="8191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5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미정</a:t>
            </a:r>
          </a:p>
        </p:txBody>
      </p:sp>
      <p:sp>
        <p:nvSpPr>
          <p:cNvPr id="6" name="miner-특수 공격-heading">
            <a:extLst>
              <a:ext uri="{FF2B5EF4-FFF2-40B4-BE49-F238E27FC236}">
                <a16:creationId xmlns:a16="http://schemas.microsoft.com/office/drawing/2014/main" id="{6DA497AD-2F08-41F9-9C19-6F55EF915457}"/>
              </a:ext>
            </a:extLst>
          </p:cNvPr>
          <p:cNvSpPr>
            <a:spLocks noGrp="1"/>
          </p:cNvSpPr>
          <p:nvPr/>
        </p:nvSpPr>
        <p:spPr>
          <a:xfrm>
            <a:off x="400050" y="3143250"/>
            <a:ext cx="60960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특수 공격</a:t>
            </a:r>
          </a:p>
        </p:txBody>
      </p:sp>
      <p:sp>
        <p:nvSpPr>
          <p:cNvPr id="7" name="miner-특수 공격-rule">
            <a:extLst>
              <a:ext uri="{FF2B5EF4-FFF2-40B4-BE49-F238E27FC236}">
                <a16:creationId xmlns:a16="http://schemas.microsoft.com/office/drawing/2014/main" id="{2394F346-4B7E-41F3-BD21-9747D7310ABC}"/>
              </a:ext>
            </a:extLst>
          </p:cNvPr>
          <p:cNvSpPr>
            <a:spLocks noGrp="1"/>
          </p:cNvSpPr>
          <p:nvPr/>
        </p:nvSpPr>
        <p:spPr>
          <a:xfrm>
            <a:off x="400050" y="3543300"/>
            <a:ext cx="685800" cy="381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8" name="miner-특수 공격-body">
            <a:extLst>
              <a:ext uri="{FF2B5EF4-FFF2-40B4-BE49-F238E27FC236}">
                <a16:creationId xmlns:a16="http://schemas.microsoft.com/office/drawing/2014/main" id="{549D7B14-01DD-4013-B9E4-AD8DAE4AB633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6096000" cy="11049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5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미정</a:t>
            </a:r>
          </a:p>
        </p:txBody>
      </p:sp>
      <p:sp>
        <p:nvSpPr>
          <p:cNvPr id="9" name="miner-note-band">
            <a:extLst>
              <a:ext uri="{FF2B5EF4-FFF2-40B4-BE49-F238E27FC236}">
                <a16:creationId xmlns:a16="http://schemas.microsoft.com/office/drawing/2014/main" id="{53625281-1648-4AE3-B562-6AC105EE0DF3}"/>
              </a:ext>
            </a:extLst>
          </p:cNvPr>
          <p:cNvSpPr>
            <a:spLocks noGrp="1"/>
          </p:cNvSpPr>
          <p:nvPr/>
        </p:nvSpPr>
        <p:spPr>
          <a:xfrm>
            <a:off x="400050" y="5219700"/>
            <a:ext cx="6096000" cy="66675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0" name="miner-note">
            <a:extLst>
              <a:ext uri="{FF2B5EF4-FFF2-40B4-BE49-F238E27FC236}">
                <a16:creationId xmlns:a16="http://schemas.microsoft.com/office/drawing/2014/main" id="{C0649E31-536E-448F-9E75-9B19F5CF42B2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56769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스탯은 현재 공통 기본값 기준. 각도 조절 Min/Max 값은 미정.</a:t>
            </a:r>
          </a:p>
        </p:txBody>
      </p:sp>
      <p:sp>
        <p:nvSpPr>
          <p:cNvPr id="11" name="miner-image-slot-panel">
            <a:extLst>
              <a:ext uri="{FF2B5EF4-FFF2-40B4-BE49-F238E27FC236}">
                <a16:creationId xmlns:a16="http://schemas.microsoft.com/office/drawing/2014/main" id="{2F805D9B-4955-47CD-8456-AE9413059B6C}"/>
              </a:ext>
            </a:extLst>
          </p:cNvPr>
          <p:cNvSpPr>
            <a:spLocks noGrp="1"/>
          </p:cNvSpPr>
          <p:nvPr/>
        </p:nvSpPr>
        <p:spPr>
          <a:xfrm>
            <a:off x="7372350" y="1181100"/>
            <a:ext cx="4419600" cy="260985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2" name="miner-image-slot-accent">
            <a:extLst>
              <a:ext uri="{FF2B5EF4-FFF2-40B4-BE49-F238E27FC236}">
                <a16:creationId xmlns:a16="http://schemas.microsoft.com/office/drawing/2014/main" id="{C3FE38AD-467F-4C01-8B06-8D236E1FE01F}"/>
              </a:ext>
            </a:extLst>
          </p:cNvPr>
          <p:cNvSpPr>
            <a:spLocks noGrp="1"/>
          </p:cNvSpPr>
          <p:nvPr/>
        </p:nvSpPr>
        <p:spPr>
          <a:xfrm>
            <a:off x="7372350" y="1181100"/>
            <a:ext cx="76200" cy="260985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13" name="miner-image-slot-label">
            <a:extLst>
              <a:ext uri="{FF2B5EF4-FFF2-40B4-BE49-F238E27FC236}">
                <a16:creationId xmlns:a16="http://schemas.microsoft.com/office/drawing/2014/main" id="{37599C53-1EC9-4B07-91D0-2BD8969F976F}"/>
              </a:ext>
            </a:extLst>
          </p:cNvPr>
          <p:cNvSpPr>
            <a:spLocks noGrp="1"/>
          </p:cNvSpPr>
          <p:nvPr/>
        </p:nvSpPr>
        <p:spPr>
          <a:xfrm>
            <a:off x="7639050" y="1447800"/>
            <a:ext cx="38862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대표 이미지</a:t>
            </a:r>
          </a:p>
        </p:txBody>
      </p:sp>
      <p:sp>
        <p:nvSpPr>
          <p:cNvPr id="14" name="miner-image-slot-hint">
            <a:extLst>
              <a:ext uri="{FF2B5EF4-FFF2-40B4-BE49-F238E27FC236}">
                <a16:creationId xmlns:a16="http://schemas.microsoft.com/office/drawing/2014/main" id="{651FC84C-3070-4709-BCDD-E62C86A9FFE9}"/>
              </a:ext>
            </a:extLst>
          </p:cNvPr>
          <p:cNvSpPr>
            <a:spLocks noGrp="1"/>
          </p:cNvSpPr>
          <p:nvPr/>
        </p:nvSpPr>
        <p:spPr>
          <a:xfrm>
            <a:off x="7639050" y="3143250"/>
            <a:ext cx="3886200" cy="3810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Miner 레퍼런스 이미지 삽입</a:t>
            </a:r>
          </a:p>
        </p:txBody>
      </p:sp>
      <p:sp>
        <p:nvSpPr>
          <p:cNvPr id="15" name="miner-stats-heading">
            <a:extLst>
              <a:ext uri="{FF2B5EF4-FFF2-40B4-BE49-F238E27FC236}">
                <a16:creationId xmlns:a16="http://schemas.microsoft.com/office/drawing/2014/main" id="{FBBC3CBE-D8EB-4425-9D47-B19F9DCE7DE1}"/>
              </a:ext>
            </a:extLst>
          </p:cNvPr>
          <p:cNvSpPr>
            <a:spLocks noGrp="1"/>
          </p:cNvSpPr>
          <p:nvPr/>
        </p:nvSpPr>
        <p:spPr>
          <a:xfrm>
            <a:off x="7372350" y="4057650"/>
            <a:ext cx="44196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스탯</a:t>
            </a:r>
          </a:p>
        </p:txBody>
      </p:sp>
      <p:sp>
        <p:nvSpPr>
          <p:cNvPr id="16" name="miner-stat-bg-1">
            <a:extLst>
              <a:ext uri="{FF2B5EF4-FFF2-40B4-BE49-F238E27FC236}">
                <a16:creationId xmlns:a16="http://schemas.microsoft.com/office/drawing/2014/main" id="{170EFF95-3ECD-4B68-8760-E704DD48190F}"/>
              </a:ext>
            </a:extLst>
          </p:cNvPr>
          <p:cNvSpPr>
            <a:spLocks noGrp="1"/>
          </p:cNvSpPr>
          <p:nvPr/>
        </p:nvSpPr>
        <p:spPr>
          <a:xfrm>
            <a:off x="7372350" y="4438650"/>
            <a:ext cx="4419600" cy="280035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7" name="miner-stat-label-1">
            <a:extLst>
              <a:ext uri="{FF2B5EF4-FFF2-40B4-BE49-F238E27FC236}">
                <a16:creationId xmlns:a16="http://schemas.microsoft.com/office/drawing/2014/main" id="{90FC4CF4-51A4-41CB-ABFE-6E264B09056D}"/>
              </a:ext>
            </a:extLst>
          </p:cNvPr>
          <p:cNvSpPr>
            <a:spLocks noGrp="1"/>
          </p:cNvSpPr>
          <p:nvPr/>
        </p:nvSpPr>
        <p:spPr>
          <a:xfrm>
            <a:off x="7505700" y="448627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최대 체력</a:t>
            </a:r>
          </a:p>
        </p:txBody>
      </p:sp>
      <p:sp>
        <p:nvSpPr>
          <p:cNvPr id="18" name="miner-stat-value-1">
            <a:extLst>
              <a:ext uri="{FF2B5EF4-FFF2-40B4-BE49-F238E27FC236}">
                <a16:creationId xmlns:a16="http://schemas.microsoft.com/office/drawing/2014/main" id="{D731FF08-8A85-4A03-9CB8-C2D8B8ACCB47}"/>
              </a:ext>
            </a:extLst>
          </p:cNvPr>
          <p:cNvSpPr>
            <a:spLocks noGrp="1"/>
          </p:cNvSpPr>
          <p:nvPr/>
        </p:nvSpPr>
        <p:spPr>
          <a:xfrm>
            <a:off x="8896350" y="448627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100</a:t>
            </a:r>
          </a:p>
        </p:txBody>
      </p:sp>
      <p:sp>
        <p:nvSpPr>
          <p:cNvPr id="19" name="miner-stat-bg-2">
            <a:extLst>
              <a:ext uri="{FF2B5EF4-FFF2-40B4-BE49-F238E27FC236}">
                <a16:creationId xmlns:a16="http://schemas.microsoft.com/office/drawing/2014/main" id="{AC902703-6A4F-4235-A956-278E0AFC3683}"/>
              </a:ext>
            </a:extLst>
          </p:cNvPr>
          <p:cNvSpPr>
            <a:spLocks noGrp="1"/>
          </p:cNvSpPr>
          <p:nvPr/>
        </p:nvSpPr>
        <p:spPr>
          <a:xfrm>
            <a:off x="7372350" y="4728210"/>
            <a:ext cx="4419600" cy="28003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miner-stat-label-2">
            <a:extLst>
              <a:ext uri="{FF2B5EF4-FFF2-40B4-BE49-F238E27FC236}">
                <a16:creationId xmlns:a16="http://schemas.microsoft.com/office/drawing/2014/main" id="{0FB86264-9E34-4522-9C77-339DB5E0F276}"/>
              </a:ext>
            </a:extLst>
          </p:cNvPr>
          <p:cNvSpPr>
            <a:spLocks noGrp="1"/>
          </p:cNvSpPr>
          <p:nvPr/>
        </p:nvSpPr>
        <p:spPr>
          <a:xfrm>
            <a:off x="7505700" y="477583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이동력</a:t>
            </a:r>
          </a:p>
        </p:txBody>
      </p:sp>
      <p:sp>
        <p:nvSpPr>
          <p:cNvPr id="21" name="miner-stat-value-2">
            <a:extLst>
              <a:ext uri="{FF2B5EF4-FFF2-40B4-BE49-F238E27FC236}">
                <a16:creationId xmlns:a16="http://schemas.microsoft.com/office/drawing/2014/main" id="{CFE95897-7E2F-4F99-B056-14D092028B45}"/>
              </a:ext>
            </a:extLst>
          </p:cNvPr>
          <p:cNvSpPr>
            <a:spLocks noGrp="1"/>
          </p:cNvSpPr>
          <p:nvPr/>
        </p:nvSpPr>
        <p:spPr>
          <a:xfrm>
            <a:off x="8896350" y="477583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420</a:t>
            </a:r>
          </a:p>
        </p:txBody>
      </p:sp>
      <p:sp>
        <p:nvSpPr>
          <p:cNvPr id="22" name="miner-stat-bg-3">
            <a:extLst>
              <a:ext uri="{FF2B5EF4-FFF2-40B4-BE49-F238E27FC236}">
                <a16:creationId xmlns:a16="http://schemas.microsoft.com/office/drawing/2014/main" id="{6650B0E6-AB81-4DAA-8DDE-2B79897A7F71}"/>
              </a:ext>
            </a:extLst>
          </p:cNvPr>
          <p:cNvSpPr>
            <a:spLocks noGrp="1"/>
          </p:cNvSpPr>
          <p:nvPr/>
        </p:nvSpPr>
        <p:spPr>
          <a:xfrm>
            <a:off x="7372350" y="5017770"/>
            <a:ext cx="4419600" cy="280035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3" name="miner-stat-label-3">
            <a:extLst>
              <a:ext uri="{FF2B5EF4-FFF2-40B4-BE49-F238E27FC236}">
                <a16:creationId xmlns:a16="http://schemas.microsoft.com/office/drawing/2014/main" id="{4E6B5F94-7581-4B08-8747-D492E35BB816}"/>
              </a:ext>
            </a:extLst>
          </p:cNvPr>
          <p:cNvSpPr>
            <a:spLocks noGrp="1"/>
          </p:cNvSpPr>
          <p:nvPr/>
        </p:nvSpPr>
        <p:spPr>
          <a:xfrm>
            <a:off x="7505700" y="506539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탄환 속도</a:t>
            </a:r>
          </a:p>
        </p:txBody>
      </p:sp>
      <p:sp>
        <p:nvSpPr>
          <p:cNvPr id="24" name="miner-stat-value-3">
            <a:extLst>
              <a:ext uri="{FF2B5EF4-FFF2-40B4-BE49-F238E27FC236}">
                <a16:creationId xmlns:a16="http://schemas.microsoft.com/office/drawing/2014/main" id="{09BF38C7-3722-41D3-A1C3-9F58DDBE980A}"/>
              </a:ext>
            </a:extLst>
          </p:cNvPr>
          <p:cNvSpPr>
            <a:spLocks noGrp="1"/>
          </p:cNvSpPr>
          <p:nvPr/>
        </p:nvSpPr>
        <p:spPr>
          <a:xfrm>
            <a:off x="8896350" y="506539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1.0</a:t>
            </a:r>
          </a:p>
        </p:txBody>
      </p:sp>
      <p:sp>
        <p:nvSpPr>
          <p:cNvPr id="25" name="miner-stat-bg-4">
            <a:extLst>
              <a:ext uri="{FF2B5EF4-FFF2-40B4-BE49-F238E27FC236}">
                <a16:creationId xmlns:a16="http://schemas.microsoft.com/office/drawing/2014/main" id="{BB2317C7-4CC8-42F7-A507-E6F2E0214DB8}"/>
              </a:ext>
            </a:extLst>
          </p:cNvPr>
          <p:cNvSpPr>
            <a:spLocks noGrp="1"/>
          </p:cNvSpPr>
          <p:nvPr/>
        </p:nvSpPr>
        <p:spPr>
          <a:xfrm>
            <a:off x="7372350" y="5307330"/>
            <a:ext cx="4419600" cy="28003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miner-stat-label-4">
            <a:extLst>
              <a:ext uri="{FF2B5EF4-FFF2-40B4-BE49-F238E27FC236}">
                <a16:creationId xmlns:a16="http://schemas.microsoft.com/office/drawing/2014/main" id="{9F0DC03D-1E9B-4CB0-A935-6ABE5E86F94F}"/>
              </a:ext>
            </a:extLst>
          </p:cNvPr>
          <p:cNvSpPr>
            <a:spLocks noGrp="1"/>
          </p:cNvSpPr>
          <p:nvPr/>
        </p:nvSpPr>
        <p:spPr>
          <a:xfrm>
            <a:off x="7505700" y="535495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투사체 수</a:t>
            </a:r>
          </a:p>
        </p:txBody>
      </p:sp>
      <p:sp>
        <p:nvSpPr>
          <p:cNvPr id="27" name="miner-stat-value-4">
            <a:extLst>
              <a:ext uri="{FF2B5EF4-FFF2-40B4-BE49-F238E27FC236}">
                <a16:creationId xmlns:a16="http://schemas.microsoft.com/office/drawing/2014/main" id="{6F47A5C0-3C69-4DF0-AA4C-43774374F6D9}"/>
              </a:ext>
            </a:extLst>
          </p:cNvPr>
          <p:cNvSpPr>
            <a:spLocks noGrp="1"/>
          </p:cNvSpPr>
          <p:nvPr/>
        </p:nvSpPr>
        <p:spPr>
          <a:xfrm>
            <a:off x="8896350" y="535495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28" name="miner-stat-bg-5">
            <a:extLst>
              <a:ext uri="{FF2B5EF4-FFF2-40B4-BE49-F238E27FC236}">
                <a16:creationId xmlns:a16="http://schemas.microsoft.com/office/drawing/2014/main" id="{9FB270D8-0BAA-4BB1-9ECC-5CF401D3CAEC}"/>
              </a:ext>
            </a:extLst>
          </p:cNvPr>
          <p:cNvSpPr>
            <a:spLocks noGrp="1"/>
          </p:cNvSpPr>
          <p:nvPr/>
        </p:nvSpPr>
        <p:spPr>
          <a:xfrm>
            <a:off x="7372350" y="5596890"/>
            <a:ext cx="4419600" cy="280035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9" name="miner-stat-label-5">
            <a:extLst>
              <a:ext uri="{FF2B5EF4-FFF2-40B4-BE49-F238E27FC236}">
                <a16:creationId xmlns:a16="http://schemas.microsoft.com/office/drawing/2014/main" id="{AEEF9153-EED4-4C7F-91B7-C0419336EA1F}"/>
              </a:ext>
            </a:extLst>
          </p:cNvPr>
          <p:cNvSpPr>
            <a:spLocks noGrp="1"/>
          </p:cNvSpPr>
          <p:nvPr/>
        </p:nvSpPr>
        <p:spPr>
          <a:xfrm>
            <a:off x="7505700" y="564451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각도 조절</a:t>
            </a:r>
          </a:p>
        </p:txBody>
      </p:sp>
      <p:sp>
        <p:nvSpPr>
          <p:cNvPr id="30" name="miner-stat-value-5">
            <a:extLst>
              <a:ext uri="{FF2B5EF4-FFF2-40B4-BE49-F238E27FC236}">
                <a16:creationId xmlns:a16="http://schemas.microsoft.com/office/drawing/2014/main" id="{D23B1FE8-2F9F-4DDA-A5AE-3E47D1BD8DEB}"/>
              </a:ext>
            </a:extLst>
          </p:cNvPr>
          <p:cNvSpPr>
            <a:spLocks noGrp="1"/>
          </p:cNvSpPr>
          <p:nvPr/>
        </p:nvSpPr>
        <p:spPr>
          <a:xfrm>
            <a:off x="8896350" y="564451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Min: 미정 / Max: 미정</a:t>
            </a:r>
          </a:p>
        </p:txBody>
      </p:sp>
      <p:sp>
        <p:nvSpPr>
          <p:cNvPr id="31" name="footer-rule-4">
            <a:extLst>
              <a:ext uri="{FF2B5EF4-FFF2-40B4-BE49-F238E27FC236}">
                <a16:creationId xmlns:a16="http://schemas.microsoft.com/office/drawing/2014/main" id="{7FAEA6DC-6760-4A6C-B681-5EB0244B66E3}"/>
              </a:ext>
            </a:extLst>
          </p:cNvPr>
          <p:cNvSpPr>
            <a:spLocks noGrp="1"/>
          </p:cNvSpPr>
          <p:nvPr/>
        </p:nvSpPr>
        <p:spPr>
          <a:xfrm>
            <a:off x="400050" y="6172200"/>
            <a:ext cx="11391900" cy="9525"/>
          </a:xfrm>
          <a:prstGeom prst="rect">
            <a:avLst/>
          </a:prstGeom>
          <a:solidFill>
            <a:srgbClr val="B8BCC4"/>
          </a:solidFill>
        </p:spPr>
      </p:sp>
      <p:sp>
        <p:nvSpPr>
          <p:cNvPr id="32" name="footer-source-4">
            <a:extLst>
              <a:ext uri="{FF2B5EF4-FFF2-40B4-BE49-F238E27FC236}">
                <a16:creationId xmlns:a16="http://schemas.microsoft.com/office/drawing/2014/main" id="{438380FA-E461-4562-AEA7-0B81C128229A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docs/CHARACTER_SETTING.md</a:t>
            </a:r>
          </a:p>
        </p:txBody>
      </p:sp>
      <p:sp>
        <p:nvSpPr>
          <p:cNvPr id="33" name="footer-page-4">
            <a:extLst>
              <a:ext uri="{FF2B5EF4-FFF2-40B4-BE49-F238E27FC236}">
                <a16:creationId xmlns:a16="http://schemas.microsoft.com/office/drawing/2014/main" id="{731298D1-0453-42CB-AC12-4469ACF898C7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9776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ngineer-title">
            <a:extLst>
              <a:ext uri="{FF2B5EF4-FFF2-40B4-BE49-F238E27FC236}">
                <a16:creationId xmlns:a16="http://schemas.microsoft.com/office/drawing/2014/main" id="{728FB307-10A3-4F03-AB4A-4F25A1088B06}"/>
              </a:ext>
            </a:extLst>
          </p:cNvPr>
          <p:cNvSpPr>
            <a:spLocks noGrp="1"/>
          </p:cNvSpPr>
          <p:nvPr/>
        </p:nvSpPr>
        <p:spPr>
          <a:xfrm>
            <a:off x="400050" y="342900"/>
            <a:ext cx="5905500" cy="704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37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Engineer</a:t>
            </a:r>
          </a:p>
        </p:txBody>
      </p:sp>
      <p:sp>
        <p:nvSpPr>
          <p:cNvPr id="2" name="engineer-eyebrow">
            <a:extLst>
              <a:ext uri="{FF2B5EF4-FFF2-40B4-BE49-F238E27FC236}">
                <a16:creationId xmlns:a16="http://schemas.microsoft.com/office/drawing/2014/main" id="{7F85F543-A250-498A-9119-DF3047CD12B5}"/>
              </a:ext>
            </a:extLst>
          </p:cNvPr>
          <p:cNvSpPr>
            <a:spLocks noGrp="1"/>
          </p:cNvSpPr>
          <p:nvPr/>
        </p:nvSpPr>
        <p:spPr>
          <a:xfrm>
            <a:off x="7372350" y="476250"/>
            <a:ext cx="44196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r"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Playable Character Draft</a:t>
            </a:r>
          </a:p>
        </p:txBody>
      </p:sp>
      <p:sp>
        <p:nvSpPr>
          <p:cNvPr id="3" name="engineer-콘셉트-heading">
            <a:extLst>
              <a:ext uri="{FF2B5EF4-FFF2-40B4-BE49-F238E27FC236}">
                <a16:creationId xmlns:a16="http://schemas.microsoft.com/office/drawing/2014/main" id="{32B10849-02A0-4B3E-91F5-DFEEB999F804}"/>
              </a:ext>
            </a:extLst>
          </p:cNvPr>
          <p:cNvSpPr>
            <a:spLocks noGrp="1"/>
          </p:cNvSpPr>
          <p:nvPr/>
        </p:nvSpPr>
        <p:spPr>
          <a:xfrm>
            <a:off x="400050" y="1390650"/>
            <a:ext cx="60960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콘셉트</a:t>
            </a:r>
          </a:p>
        </p:txBody>
      </p:sp>
      <p:sp>
        <p:nvSpPr>
          <p:cNvPr id="4" name="engineer-콘셉트-rule">
            <a:extLst>
              <a:ext uri="{FF2B5EF4-FFF2-40B4-BE49-F238E27FC236}">
                <a16:creationId xmlns:a16="http://schemas.microsoft.com/office/drawing/2014/main" id="{2CC3F8B3-B32D-42F9-B71E-6D5FC2551DCF}"/>
              </a:ext>
            </a:extLst>
          </p:cNvPr>
          <p:cNvSpPr>
            <a:spLocks noGrp="1"/>
          </p:cNvSpPr>
          <p:nvPr/>
        </p:nvSpPr>
        <p:spPr>
          <a:xfrm>
            <a:off x="400050" y="1790700"/>
            <a:ext cx="685800" cy="381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5" name="engineer-콘셉트-body">
            <a:extLst>
              <a:ext uri="{FF2B5EF4-FFF2-40B4-BE49-F238E27FC236}">
                <a16:creationId xmlns:a16="http://schemas.microsoft.com/office/drawing/2014/main" id="{87D54810-6DA6-4782-979F-2BB636956FCE}"/>
              </a:ext>
            </a:extLst>
          </p:cNvPr>
          <p:cNvSpPr>
            <a:spLocks noGrp="1"/>
          </p:cNvSpPr>
          <p:nvPr/>
        </p:nvSpPr>
        <p:spPr>
          <a:xfrm>
            <a:off x="400050" y="1962150"/>
            <a:ext cx="6096000" cy="8191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5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미정</a:t>
            </a:r>
          </a:p>
        </p:txBody>
      </p:sp>
      <p:sp>
        <p:nvSpPr>
          <p:cNvPr id="6" name="engineer-특수 공격-heading">
            <a:extLst>
              <a:ext uri="{FF2B5EF4-FFF2-40B4-BE49-F238E27FC236}">
                <a16:creationId xmlns:a16="http://schemas.microsoft.com/office/drawing/2014/main" id="{A128F9A5-2C00-437E-92B6-6477152D27DF}"/>
              </a:ext>
            </a:extLst>
          </p:cNvPr>
          <p:cNvSpPr>
            <a:spLocks noGrp="1"/>
          </p:cNvSpPr>
          <p:nvPr/>
        </p:nvSpPr>
        <p:spPr>
          <a:xfrm>
            <a:off x="400050" y="3143250"/>
            <a:ext cx="60960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특수 공격</a:t>
            </a:r>
          </a:p>
        </p:txBody>
      </p:sp>
      <p:sp>
        <p:nvSpPr>
          <p:cNvPr id="7" name="engineer-특수 공격-rule">
            <a:extLst>
              <a:ext uri="{FF2B5EF4-FFF2-40B4-BE49-F238E27FC236}">
                <a16:creationId xmlns:a16="http://schemas.microsoft.com/office/drawing/2014/main" id="{B76F7F4B-F110-4BE9-A4CE-73F810D6CC1E}"/>
              </a:ext>
            </a:extLst>
          </p:cNvPr>
          <p:cNvSpPr>
            <a:spLocks noGrp="1"/>
          </p:cNvSpPr>
          <p:nvPr/>
        </p:nvSpPr>
        <p:spPr>
          <a:xfrm>
            <a:off x="400050" y="3543300"/>
            <a:ext cx="685800" cy="3810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8" name="engineer-특수 공격-body">
            <a:extLst>
              <a:ext uri="{FF2B5EF4-FFF2-40B4-BE49-F238E27FC236}">
                <a16:creationId xmlns:a16="http://schemas.microsoft.com/office/drawing/2014/main" id="{66C5EB5F-E2A6-4995-B0F5-B671860CBD68}"/>
              </a:ext>
            </a:extLst>
          </p:cNvPr>
          <p:cNvSpPr>
            <a:spLocks noGrp="1"/>
          </p:cNvSpPr>
          <p:nvPr/>
        </p:nvSpPr>
        <p:spPr>
          <a:xfrm>
            <a:off x="400050" y="3714750"/>
            <a:ext cx="6096000" cy="11049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57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미정</a:t>
            </a:r>
          </a:p>
        </p:txBody>
      </p:sp>
      <p:sp>
        <p:nvSpPr>
          <p:cNvPr id="9" name="engineer-note-band">
            <a:extLst>
              <a:ext uri="{FF2B5EF4-FFF2-40B4-BE49-F238E27FC236}">
                <a16:creationId xmlns:a16="http://schemas.microsoft.com/office/drawing/2014/main" id="{2AAFAB98-EE86-435B-9671-1C58707B9B71}"/>
              </a:ext>
            </a:extLst>
          </p:cNvPr>
          <p:cNvSpPr>
            <a:spLocks noGrp="1"/>
          </p:cNvSpPr>
          <p:nvPr/>
        </p:nvSpPr>
        <p:spPr>
          <a:xfrm>
            <a:off x="400050" y="5219700"/>
            <a:ext cx="6096000" cy="66675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0" name="engineer-note">
            <a:extLst>
              <a:ext uri="{FF2B5EF4-FFF2-40B4-BE49-F238E27FC236}">
                <a16:creationId xmlns:a16="http://schemas.microsoft.com/office/drawing/2014/main" id="{28806180-E283-4379-BCD4-02B74FE0E7D9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56769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스탯은 현재 공통 기본값 기준. 각도 조절 Min/Max 값은 미정.</a:t>
            </a:r>
          </a:p>
        </p:txBody>
      </p:sp>
      <p:sp>
        <p:nvSpPr>
          <p:cNvPr id="11" name="engineer-image-slot-panel">
            <a:extLst>
              <a:ext uri="{FF2B5EF4-FFF2-40B4-BE49-F238E27FC236}">
                <a16:creationId xmlns:a16="http://schemas.microsoft.com/office/drawing/2014/main" id="{A60CDE87-D73A-4FED-A037-BD9FA4FF27F7}"/>
              </a:ext>
            </a:extLst>
          </p:cNvPr>
          <p:cNvSpPr>
            <a:spLocks noGrp="1"/>
          </p:cNvSpPr>
          <p:nvPr/>
        </p:nvSpPr>
        <p:spPr>
          <a:xfrm>
            <a:off x="7372350" y="1181100"/>
            <a:ext cx="4419600" cy="2609850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2" name="engineer-image-slot-accent">
            <a:extLst>
              <a:ext uri="{FF2B5EF4-FFF2-40B4-BE49-F238E27FC236}">
                <a16:creationId xmlns:a16="http://schemas.microsoft.com/office/drawing/2014/main" id="{D84A766A-9352-4967-8D6A-B4AD36440F7A}"/>
              </a:ext>
            </a:extLst>
          </p:cNvPr>
          <p:cNvSpPr>
            <a:spLocks noGrp="1"/>
          </p:cNvSpPr>
          <p:nvPr/>
        </p:nvSpPr>
        <p:spPr>
          <a:xfrm>
            <a:off x="7372350" y="1181100"/>
            <a:ext cx="76200" cy="2609850"/>
          </a:xfrm>
          <a:prstGeom prst="rect">
            <a:avLst/>
          </a:prstGeom>
          <a:solidFill>
            <a:srgbClr val="FF6B35"/>
          </a:solidFill>
        </p:spPr>
      </p:sp>
      <p:sp>
        <p:nvSpPr>
          <p:cNvPr id="13" name="engineer-image-slot-label">
            <a:extLst>
              <a:ext uri="{FF2B5EF4-FFF2-40B4-BE49-F238E27FC236}">
                <a16:creationId xmlns:a16="http://schemas.microsoft.com/office/drawing/2014/main" id="{A4FEA5D4-50E4-4915-BBC1-008AEC0A8E0B}"/>
              </a:ext>
            </a:extLst>
          </p:cNvPr>
          <p:cNvSpPr>
            <a:spLocks noGrp="1"/>
          </p:cNvSpPr>
          <p:nvPr/>
        </p:nvSpPr>
        <p:spPr>
          <a:xfrm>
            <a:off x="7639050" y="1447800"/>
            <a:ext cx="38862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대표 이미지</a:t>
            </a:r>
          </a:p>
        </p:txBody>
      </p:sp>
      <p:sp>
        <p:nvSpPr>
          <p:cNvPr id="14" name="engineer-image-slot-hint">
            <a:extLst>
              <a:ext uri="{FF2B5EF4-FFF2-40B4-BE49-F238E27FC236}">
                <a16:creationId xmlns:a16="http://schemas.microsoft.com/office/drawing/2014/main" id="{B7806D59-C62D-4315-8C8A-55EE556158B3}"/>
              </a:ext>
            </a:extLst>
          </p:cNvPr>
          <p:cNvSpPr>
            <a:spLocks noGrp="1"/>
          </p:cNvSpPr>
          <p:nvPr/>
        </p:nvSpPr>
        <p:spPr>
          <a:xfrm>
            <a:off x="7639050" y="3143250"/>
            <a:ext cx="3886200" cy="3810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350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Engineer 레퍼런스 이미지 삽입</a:t>
            </a:r>
          </a:p>
        </p:txBody>
      </p:sp>
      <p:sp>
        <p:nvSpPr>
          <p:cNvPr id="15" name="engineer-stats-heading">
            <a:extLst>
              <a:ext uri="{FF2B5EF4-FFF2-40B4-BE49-F238E27FC236}">
                <a16:creationId xmlns:a16="http://schemas.microsoft.com/office/drawing/2014/main" id="{3A00AFF1-425E-4AA8-869A-2966FA21B128}"/>
              </a:ext>
            </a:extLst>
          </p:cNvPr>
          <p:cNvSpPr>
            <a:spLocks noGrp="1"/>
          </p:cNvSpPr>
          <p:nvPr/>
        </p:nvSpPr>
        <p:spPr>
          <a:xfrm>
            <a:off x="7372350" y="4057650"/>
            <a:ext cx="4419600" cy="32385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8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스탯</a:t>
            </a:r>
          </a:p>
        </p:txBody>
      </p:sp>
      <p:sp>
        <p:nvSpPr>
          <p:cNvPr id="16" name="engineer-stat-bg-1">
            <a:extLst>
              <a:ext uri="{FF2B5EF4-FFF2-40B4-BE49-F238E27FC236}">
                <a16:creationId xmlns:a16="http://schemas.microsoft.com/office/drawing/2014/main" id="{0E3D2ADC-39EC-4DD7-944F-0DC805D9285E}"/>
              </a:ext>
            </a:extLst>
          </p:cNvPr>
          <p:cNvSpPr>
            <a:spLocks noGrp="1"/>
          </p:cNvSpPr>
          <p:nvPr/>
        </p:nvSpPr>
        <p:spPr>
          <a:xfrm>
            <a:off x="7372350" y="4438650"/>
            <a:ext cx="4419600" cy="280035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17" name="engineer-stat-label-1">
            <a:extLst>
              <a:ext uri="{FF2B5EF4-FFF2-40B4-BE49-F238E27FC236}">
                <a16:creationId xmlns:a16="http://schemas.microsoft.com/office/drawing/2014/main" id="{409AE207-555E-49B9-A9C0-078BFC937429}"/>
              </a:ext>
            </a:extLst>
          </p:cNvPr>
          <p:cNvSpPr>
            <a:spLocks noGrp="1"/>
          </p:cNvSpPr>
          <p:nvPr/>
        </p:nvSpPr>
        <p:spPr>
          <a:xfrm>
            <a:off x="7505700" y="448627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최대 체력</a:t>
            </a:r>
          </a:p>
        </p:txBody>
      </p:sp>
      <p:sp>
        <p:nvSpPr>
          <p:cNvPr id="18" name="engineer-stat-value-1">
            <a:extLst>
              <a:ext uri="{FF2B5EF4-FFF2-40B4-BE49-F238E27FC236}">
                <a16:creationId xmlns:a16="http://schemas.microsoft.com/office/drawing/2014/main" id="{120827AB-6F6F-41FE-9D43-C7CE8D736FB0}"/>
              </a:ext>
            </a:extLst>
          </p:cNvPr>
          <p:cNvSpPr>
            <a:spLocks noGrp="1"/>
          </p:cNvSpPr>
          <p:nvPr/>
        </p:nvSpPr>
        <p:spPr>
          <a:xfrm>
            <a:off x="8896350" y="448627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100</a:t>
            </a:r>
          </a:p>
        </p:txBody>
      </p:sp>
      <p:sp>
        <p:nvSpPr>
          <p:cNvPr id="19" name="engineer-stat-bg-2">
            <a:extLst>
              <a:ext uri="{FF2B5EF4-FFF2-40B4-BE49-F238E27FC236}">
                <a16:creationId xmlns:a16="http://schemas.microsoft.com/office/drawing/2014/main" id="{1C8EE109-5C4D-485F-8A90-D4233F2D217C}"/>
              </a:ext>
            </a:extLst>
          </p:cNvPr>
          <p:cNvSpPr>
            <a:spLocks noGrp="1"/>
          </p:cNvSpPr>
          <p:nvPr/>
        </p:nvSpPr>
        <p:spPr>
          <a:xfrm>
            <a:off x="7372350" y="4728210"/>
            <a:ext cx="4419600" cy="28003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engineer-stat-label-2">
            <a:extLst>
              <a:ext uri="{FF2B5EF4-FFF2-40B4-BE49-F238E27FC236}">
                <a16:creationId xmlns:a16="http://schemas.microsoft.com/office/drawing/2014/main" id="{8A4FF2AB-ACA4-4A62-B4D2-24F7E41C106C}"/>
              </a:ext>
            </a:extLst>
          </p:cNvPr>
          <p:cNvSpPr>
            <a:spLocks noGrp="1"/>
          </p:cNvSpPr>
          <p:nvPr/>
        </p:nvSpPr>
        <p:spPr>
          <a:xfrm>
            <a:off x="7505700" y="477583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이동력</a:t>
            </a:r>
          </a:p>
        </p:txBody>
      </p:sp>
      <p:sp>
        <p:nvSpPr>
          <p:cNvPr id="21" name="engineer-stat-value-2">
            <a:extLst>
              <a:ext uri="{FF2B5EF4-FFF2-40B4-BE49-F238E27FC236}">
                <a16:creationId xmlns:a16="http://schemas.microsoft.com/office/drawing/2014/main" id="{B69F0680-5A38-4411-A073-C611698D9620}"/>
              </a:ext>
            </a:extLst>
          </p:cNvPr>
          <p:cNvSpPr>
            <a:spLocks noGrp="1"/>
          </p:cNvSpPr>
          <p:nvPr/>
        </p:nvSpPr>
        <p:spPr>
          <a:xfrm>
            <a:off x="8896350" y="477583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420</a:t>
            </a:r>
          </a:p>
        </p:txBody>
      </p:sp>
      <p:sp>
        <p:nvSpPr>
          <p:cNvPr id="22" name="engineer-stat-bg-3">
            <a:extLst>
              <a:ext uri="{FF2B5EF4-FFF2-40B4-BE49-F238E27FC236}">
                <a16:creationId xmlns:a16="http://schemas.microsoft.com/office/drawing/2014/main" id="{465A51AE-1C7E-4EAA-9ECE-183635D5ECEF}"/>
              </a:ext>
            </a:extLst>
          </p:cNvPr>
          <p:cNvSpPr>
            <a:spLocks noGrp="1"/>
          </p:cNvSpPr>
          <p:nvPr/>
        </p:nvSpPr>
        <p:spPr>
          <a:xfrm>
            <a:off x="7372350" y="5017770"/>
            <a:ext cx="4419600" cy="280035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3" name="engineer-stat-label-3">
            <a:extLst>
              <a:ext uri="{FF2B5EF4-FFF2-40B4-BE49-F238E27FC236}">
                <a16:creationId xmlns:a16="http://schemas.microsoft.com/office/drawing/2014/main" id="{9FA93E35-6D93-40F9-8F6D-3CF82BCF13AF}"/>
              </a:ext>
            </a:extLst>
          </p:cNvPr>
          <p:cNvSpPr>
            <a:spLocks noGrp="1"/>
          </p:cNvSpPr>
          <p:nvPr/>
        </p:nvSpPr>
        <p:spPr>
          <a:xfrm>
            <a:off x="7505700" y="506539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탄환 속도</a:t>
            </a:r>
          </a:p>
        </p:txBody>
      </p:sp>
      <p:sp>
        <p:nvSpPr>
          <p:cNvPr id="24" name="engineer-stat-value-3">
            <a:extLst>
              <a:ext uri="{FF2B5EF4-FFF2-40B4-BE49-F238E27FC236}">
                <a16:creationId xmlns:a16="http://schemas.microsoft.com/office/drawing/2014/main" id="{EE79C674-BDE3-4BAB-BE5B-8F721537A4E6}"/>
              </a:ext>
            </a:extLst>
          </p:cNvPr>
          <p:cNvSpPr>
            <a:spLocks noGrp="1"/>
          </p:cNvSpPr>
          <p:nvPr/>
        </p:nvSpPr>
        <p:spPr>
          <a:xfrm>
            <a:off x="8896350" y="506539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1.0</a:t>
            </a:r>
          </a:p>
        </p:txBody>
      </p:sp>
      <p:sp>
        <p:nvSpPr>
          <p:cNvPr id="25" name="engineer-stat-bg-4">
            <a:extLst>
              <a:ext uri="{FF2B5EF4-FFF2-40B4-BE49-F238E27FC236}">
                <a16:creationId xmlns:a16="http://schemas.microsoft.com/office/drawing/2014/main" id="{F5AF724E-3C9C-4769-BDD3-CA3CD82FA30B}"/>
              </a:ext>
            </a:extLst>
          </p:cNvPr>
          <p:cNvSpPr>
            <a:spLocks noGrp="1"/>
          </p:cNvSpPr>
          <p:nvPr/>
        </p:nvSpPr>
        <p:spPr>
          <a:xfrm>
            <a:off x="7372350" y="5307330"/>
            <a:ext cx="4419600" cy="280035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engineer-stat-label-4">
            <a:extLst>
              <a:ext uri="{FF2B5EF4-FFF2-40B4-BE49-F238E27FC236}">
                <a16:creationId xmlns:a16="http://schemas.microsoft.com/office/drawing/2014/main" id="{16BF62C8-016D-421E-BD03-AA70F226D99D}"/>
              </a:ext>
            </a:extLst>
          </p:cNvPr>
          <p:cNvSpPr>
            <a:spLocks noGrp="1"/>
          </p:cNvSpPr>
          <p:nvPr/>
        </p:nvSpPr>
        <p:spPr>
          <a:xfrm>
            <a:off x="7505700" y="535495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투사체 수</a:t>
            </a:r>
          </a:p>
        </p:txBody>
      </p:sp>
      <p:sp>
        <p:nvSpPr>
          <p:cNvPr id="27" name="engineer-stat-value-4">
            <a:extLst>
              <a:ext uri="{FF2B5EF4-FFF2-40B4-BE49-F238E27FC236}">
                <a16:creationId xmlns:a16="http://schemas.microsoft.com/office/drawing/2014/main" id="{F7D39760-8C0F-4D3F-B3D7-A04028910904}"/>
              </a:ext>
            </a:extLst>
          </p:cNvPr>
          <p:cNvSpPr>
            <a:spLocks noGrp="1"/>
          </p:cNvSpPr>
          <p:nvPr/>
        </p:nvSpPr>
        <p:spPr>
          <a:xfrm>
            <a:off x="8896350" y="535495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28" name="engineer-stat-bg-5">
            <a:extLst>
              <a:ext uri="{FF2B5EF4-FFF2-40B4-BE49-F238E27FC236}">
                <a16:creationId xmlns:a16="http://schemas.microsoft.com/office/drawing/2014/main" id="{2BF21D34-0122-4E35-A5F6-5E073402B2BB}"/>
              </a:ext>
            </a:extLst>
          </p:cNvPr>
          <p:cNvSpPr>
            <a:spLocks noGrp="1"/>
          </p:cNvSpPr>
          <p:nvPr/>
        </p:nvSpPr>
        <p:spPr>
          <a:xfrm>
            <a:off x="7372350" y="5596890"/>
            <a:ext cx="4419600" cy="280035"/>
          </a:xfrm>
          <a:prstGeom prst="rect">
            <a:avLst/>
          </a:prstGeom>
          <a:solidFill>
            <a:srgbClr val="F5F5F5"/>
          </a:solidFill>
        </p:spPr>
      </p:sp>
      <p:sp>
        <p:nvSpPr>
          <p:cNvPr id="29" name="engineer-stat-label-5">
            <a:extLst>
              <a:ext uri="{FF2B5EF4-FFF2-40B4-BE49-F238E27FC236}">
                <a16:creationId xmlns:a16="http://schemas.microsoft.com/office/drawing/2014/main" id="{D5F38BB1-9752-46E1-B9F6-15C31EC58AE2}"/>
              </a:ext>
            </a:extLst>
          </p:cNvPr>
          <p:cNvSpPr>
            <a:spLocks noGrp="1"/>
          </p:cNvSpPr>
          <p:nvPr/>
        </p:nvSpPr>
        <p:spPr>
          <a:xfrm>
            <a:off x="7505700" y="5644515"/>
            <a:ext cx="1352550" cy="213360"/>
          </a:xfrm>
          <a:prstGeom prst="rect">
            <a:avLst/>
          </a:prstGeom>
        </p:spPr>
        <p:txBody>
          <a:bodyPr spcFirstLastPara="1" lIns="0" tIns="0" rIns="0" bIns="0" anchor="ctr">
            <a:normAutofit/>
          </a:bodyPr>
          <a:lstStyle/>
          <a:p>
            <a:pPr>
              <a:defRPr sz="1350" b="1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각도 조절</a:t>
            </a:r>
          </a:p>
        </p:txBody>
      </p:sp>
      <p:sp>
        <p:nvSpPr>
          <p:cNvPr id="30" name="engineer-stat-value-5">
            <a:extLst>
              <a:ext uri="{FF2B5EF4-FFF2-40B4-BE49-F238E27FC236}">
                <a16:creationId xmlns:a16="http://schemas.microsoft.com/office/drawing/2014/main" id="{7A775F5E-0A58-4B32-BF61-0D9C7575C65E}"/>
              </a:ext>
            </a:extLst>
          </p:cNvPr>
          <p:cNvSpPr>
            <a:spLocks noGrp="1"/>
          </p:cNvSpPr>
          <p:nvPr/>
        </p:nvSpPr>
        <p:spPr>
          <a:xfrm>
            <a:off x="8896350" y="5644515"/>
            <a:ext cx="2762250" cy="213360"/>
          </a:xfrm>
          <a:prstGeom prst="rect">
            <a:avLst/>
          </a:prstGeom>
        </p:spPr>
        <p:txBody>
          <a:bodyPr spcFirstLastPara="1" lIns="0" tIns="0" rIns="0" bIns="0" anchor="ctr">
            <a:normAutofit fontScale="98246"/>
          </a:bodyPr>
          <a:lstStyle/>
          <a:p>
            <a:pPr>
              <a:defRPr sz="1425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Min: 미정 / Max: 미정</a:t>
            </a:r>
          </a:p>
        </p:txBody>
      </p:sp>
      <p:sp>
        <p:nvSpPr>
          <p:cNvPr id="31" name="footer-rule-5">
            <a:extLst>
              <a:ext uri="{FF2B5EF4-FFF2-40B4-BE49-F238E27FC236}">
                <a16:creationId xmlns:a16="http://schemas.microsoft.com/office/drawing/2014/main" id="{E9E4F297-B11C-43E9-9067-15F678AF0C3A}"/>
              </a:ext>
            </a:extLst>
          </p:cNvPr>
          <p:cNvSpPr>
            <a:spLocks noGrp="1"/>
          </p:cNvSpPr>
          <p:nvPr/>
        </p:nvSpPr>
        <p:spPr>
          <a:xfrm>
            <a:off x="400050" y="6172200"/>
            <a:ext cx="11391900" cy="9525"/>
          </a:xfrm>
          <a:prstGeom prst="rect">
            <a:avLst/>
          </a:prstGeom>
          <a:solidFill>
            <a:srgbClr val="B8BCC4"/>
          </a:solidFill>
        </p:spPr>
      </p:sp>
      <p:sp>
        <p:nvSpPr>
          <p:cNvPr id="32" name="footer-source-5">
            <a:extLst>
              <a:ext uri="{FF2B5EF4-FFF2-40B4-BE49-F238E27FC236}">
                <a16:creationId xmlns:a16="http://schemas.microsoft.com/office/drawing/2014/main" id="{FBD3ACF0-6EA7-492C-8B49-5A4A30C2B00E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3429000" cy="2286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docs/CHARACTER_SETTING.md</a:t>
            </a:r>
          </a:p>
        </p:txBody>
      </p:sp>
      <p:sp>
        <p:nvSpPr>
          <p:cNvPr id="33" name="footer-page-5">
            <a:extLst>
              <a:ext uri="{FF2B5EF4-FFF2-40B4-BE49-F238E27FC236}">
                <a16:creationId xmlns:a16="http://schemas.microsoft.com/office/drawing/2014/main" id="{0ADAC6F9-7977-46EB-AEF5-FF25FEC25F2B}"/>
              </a:ext>
            </a:extLst>
          </p:cNvPr>
          <p:cNvSpPr>
            <a:spLocks noGrp="1"/>
          </p:cNvSpPr>
          <p:nvPr/>
        </p:nvSpPr>
        <p:spPr>
          <a:xfrm>
            <a:off x="11277600" y="6305550"/>
            <a:ext cx="514350" cy="228600"/>
          </a:xfrm>
          <a:prstGeom prst="rect">
            <a:avLst/>
          </a:prstGeom>
        </p:spPr>
        <p:txBody>
          <a:bodyPr spcFirstLastPara="1" lIns="0" tIns="0" rIns="0" bIns="0" anchor="t">
            <a:normAutofit/>
          </a:bodyPr>
          <a:lstStyle/>
          <a:p>
            <a:pPr algn="r">
              <a:defRPr sz="1125" b="0">
                <a:solidFill>
                  <a:srgbClr val="555555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76044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DocSecurity>0</DocSecurity>
  <PresentationFormat>와이드스크린</PresentationFormat>
  <Paragraphs>96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세현 조</cp:lastModifiedBy>
  <cp:revision>1</cp:revision>
  <dcterms:created xsi:type="dcterms:W3CDTF">2026-06-26T00:47:11Z</dcterms:created>
  <dcterms:modified xsi:type="dcterms:W3CDTF">2026-07-01T14:16:39Z</dcterms:modified>
</cp:coreProperties>
</file>